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60" r:id="rId3"/>
    <p:sldId id="257" r:id="rId4"/>
    <p:sldId id="258" r:id="rId5"/>
    <p:sldId id="259" r:id="rId6"/>
    <p:sldId id="266" r:id="rId7"/>
    <p:sldId id="261" r:id="rId8"/>
    <p:sldId id="268" r:id="rId9"/>
    <p:sldId id="267" r:id="rId10"/>
    <p:sldId id="262" r:id="rId11"/>
    <p:sldId id="269" r:id="rId12"/>
    <p:sldId id="264" r:id="rId13"/>
    <p:sldId id="270" r:id="rId14"/>
    <p:sldId id="26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88EF50E-7AEA-4180-A1C0-BEC7300D7DF4}"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9F0F8C8-FB59-4FCC-94E6-422148075303}">
      <dgm:prSet/>
      <dgm:spPr/>
      <dgm:t>
        <a:bodyPr/>
        <a:lstStyle/>
        <a:p>
          <a:r>
            <a:rPr lang="en-US"/>
            <a:t>You describe what you want in natural language and the AI generates and refines the code</a:t>
          </a:r>
        </a:p>
      </dgm:t>
    </dgm:pt>
    <dgm:pt modelId="{ACEA871E-D39C-49BB-8A84-7E355116B6AB}" type="parTrans" cxnId="{94F6F18F-E98F-450E-A878-B67450E869C6}">
      <dgm:prSet/>
      <dgm:spPr/>
      <dgm:t>
        <a:bodyPr/>
        <a:lstStyle/>
        <a:p>
          <a:endParaRPr lang="en-US"/>
        </a:p>
      </dgm:t>
    </dgm:pt>
    <dgm:pt modelId="{7DF0D2F0-223D-4683-8094-6E94C2934CE0}" type="sibTrans" cxnId="{94F6F18F-E98F-450E-A878-B67450E869C6}">
      <dgm:prSet/>
      <dgm:spPr/>
      <dgm:t>
        <a:bodyPr/>
        <a:lstStyle/>
        <a:p>
          <a:endParaRPr lang="en-US"/>
        </a:p>
      </dgm:t>
    </dgm:pt>
    <dgm:pt modelId="{59F64609-62D1-418A-BF9A-A0B596DCD68E}">
      <dgm:prSet/>
      <dgm:spPr/>
      <dgm:t>
        <a:bodyPr/>
        <a:lstStyle/>
        <a:p>
          <a:r>
            <a:rPr lang="en-US"/>
            <a:t>AI: generate, run, refine, debug the code</a:t>
          </a:r>
        </a:p>
      </dgm:t>
    </dgm:pt>
    <dgm:pt modelId="{2ED56450-BC74-4D39-ABF6-2E39BF47F7FD}" type="parTrans" cxnId="{06F28460-C678-4EDC-85F6-57DC9D3999D4}">
      <dgm:prSet/>
      <dgm:spPr/>
      <dgm:t>
        <a:bodyPr/>
        <a:lstStyle/>
        <a:p>
          <a:endParaRPr lang="en-US"/>
        </a:p>
      </dgm:t>
    </dgm:pt>
    <dgm:pt modelId="{D1D31C1A-260D-43A4-88EA-09A25FAA0088}" type="sibTrans" cxnId="{06F28460-C678-4EDC-85F6-57DC9D3999D4}">
      <dgm:prSet/>
      <dgm:spPr/>
      <dgm:t>
        <a:bodyPr/>
        <a:lstStyle/>
        <a:p>
          <a:endParaRPr lang="en-US"/>
        </a:p>
      </dgm:t>
    </dgm:pt>
    <dgm:pt modelId="{2C9620B5-CED3-4A0B-A2B3-D90C1B437B38}">
      <dgm:prSet/>
      <dgm:spPr/>
      <dgm:t>
        <a:bodyPr/>
        <a:lstStyle/>
        <a:p>
          <a:r>
            <a:rPr lang="en-US"/>
            <a:t>Human: provide oversight, reasoning, quality control</a:t>
          </a:r>
        </a:p>
      </dgm:t>
    </dgm:pt>
    <dgm:pt modelId="{7381D9F3-AD79-482A-A73C-028328866456}" type="parTrans" cxnId="{9BE0AE6F-DE9E-4AD5-85E4-EF743015E037}">
      <dgm:prSet/>
      <dgm:spPr/>
      <dgm:t>
        <a:bodyPr/>
        <a:lstStyle/>
        <a:p>
          <a:endParaRPr lang="en-US"/>
        </a:p>
      </dgm:t>
    </dgm:pt>
    <dgm:pt modelId="{4D23FC24-DE8F-4BAA-A12B-70B2218CD503}" type="sibTrans" cxnId="{9BE0AE6F-DE9E-4AD5-85E4-EF743015E037}">
      <dgm:prSet/>
      <dgm:spPr/>
      <dgm:t>
        <a:bodyPr/>
        <a:lstStyle/>
        <a:p>
          <a:endParaRPr lang="en-US"/>
        </a:p>
      </dgm:t>
    </dgm:pt>
    <dgm:pt modelId="{14647A06-1377-48B2-A027-BEFF884373B8}" type="pres">
      <dgm:prSet presAssocID="{888EF50E-7AEA-4180-A1C0-BEC7300D7DF4}" presName="root" presStyleCnt="0">
        <dgm:presLayoutVars>
          <dgm:dir/>
          <dgm:resizeHandles val="exact"/>
        </dgm:presLayoutVars>
      </dgm:prSet>
      <dgm:spPr/>
    </dgm:pt>
    <dgm:pt modelId="{202F5E68-397F-4698-A3A8-21753A7A0CC4}" type="pres">
      <dgm:prSet presAssocID="{19F0F8C8-FB59-4FCC-94E6-422148075303}" presName="compNode" presStyleCnt="0"/>
      <dgm:spPr/>
    </dgm:pt>
    <dgm:pt modelId="{83D67E0D-F537-4050-BE67-1F9F240BCDE9}" type="pres">
      <dgm:prSet presAssocID="{19F0F8C8-FB59-4FCC-94E6-422148075303}" presName="bgRect" presStyleLbl="bgShp" presStyleIdx="0" presStyleCnt="3"/>
      <dgm:spPr/>
    </dgm:pt>
    <dgm:pt modelId="{C5A8DD34-66CB-4B03-8BAA-21C7290D42B9}" type="pres">
      <dgm:prSet presAssocID="{19F0F8C8-FB59-4FCC-94E6-42214807530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28E36EA5-7CC7-4AC8-BF74-61758AB83160}" type="pres">
      <dgm:prSet presAssocID="{19F0F8C8-FB59-4FCC-94E6-422148075303}" presName="spaceRect" presStyleCnt="0"/>
      <dgm:spPr/>
    </dgm:pt>
    <dgm:pt modelId="{AC6818C1-8F29-4D9B-915A-DFC563A383CD}" type="pres">
      <dgm:prSet presAssocID="{19F0F8C8-FB59-4FCC-94E6-422148075303}" presName="parTx" presStyleLbl="revTx" presStyleIdx="0" presStyleCnt="3">
        <dgm:presLayoutVars>
          <dgm:chMax val="0"/>
          <dgm:chPref val="0"/>
        </dgm:presLayoutVars>
      </dgm:prSet>
      <dgm:spPr/>
    </dgm:pt>
    <dgm:pt modelId="{B76F338B-FFD8-4E8B-9824-D770794BEA69}" type="pres">
      <dgm:prSet presAssocID="{7DF0D2F0-223D-4683-8094-6E94C2934CE0}" presName="sibTrans" presStyleCnt="0"/>
      <dgm:spPr/>
    </dgm:pt>
    <dgm:pt modelId="{95DAEBC2-BDE0-4E53-B3A9-8875F96D148D}" type="pres">
      <dgm:prSet presAssocID="{59F64609-62D1-418A-BF9A-A0B596DCD68E}" presName="compNode" presStyleCnt="0"/>
      <dgm:spPr/>
    </dgm:pt>
    <dgm:pt modelId="{BA800393-02F3-43B4-B31B-4F432AE6BEBD}" type="pres">
      <dgm:prSet presAssocID="{59F64609-62D1-418A-BF9A-A0B596DCD68E}" presName="bgRect" presStyleLbl="bgShp" presStyleIdx="1" presStyleCnt="3"/>
      <dgm:spPr/>
    </dgm:pt>
    <dgm:pt modelId="{9994E0F2-BD22-49F0-95A4-2A87618A8EFA}" type="pres">
      <dgm:prSet presAssocID="{59F64609-62D1-418A-BF9A-A0B596DCD68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6E3EBB2D-636C-483A-B18E-04F43C534722}" type="pres">
      <dgm:prSet presAssocID="{59F64609-62D1-418A-BF9A-A0B596DCD68E}" presName="spaceRect" presStyleCnt="0"/>
      <dgm:spPr/>
    </dgm:pt>
    <dgm:pt modelId="{8DA0A19E-0D36-4C69-8D4A-ECEC9F20EFFF}" type="pres">
      <dgm:prSet presAssocID="{59F64609-62D1-418A-BF9A-A0B596DCD68E}" presName="parTx" presStyleLbl="revTx" presStyleIdx="1" presStyleCnt="3">
        <dgm:presLayoutVars>
          <dgm:chMax val="0"/>
          <dgm:chPref val="0"/>
        </dgm:presLayoutVars>
      </dgm:prSet>
      <dgm:spPr/>
    </dgm:pt>
    <dgm:pt modelId="{2E15290F-CBE9-4DED-964C-73F6E73B326E}" type="pres">
      <dgm:prSet presAssocID="{D1D31C1A-260D-43A4-88EA-09A25FAA0088}" presName="sibTrans" presStyleCnt="0"/>
      <dgm:spPr/>
    </dgm:pt>
    <dgm:pt modelId="{0F4C1767-A334-46D7-A811-675F3F122001}" type="pres">
      <dgm:prSet presAssocID="{2C9620B5-CED3-4A0B-A2B3-D90C1B437B38}" presName="compNode" presStyleCnt="0"/>
      <dgm:spPr/>
    </dgm:pt>
    <dgm:pt modelId="{4BC1917D-1AD8-43D2-A6F1-F44BD59B3904}" type="pres">
      <dgm:prSet presAssocID="{2C9620B5-CED3-4A0B-A2B3-D90C1B437B38}" presName="bgRect" presStyleLbl="bgShp" presStyleIdx="2" presStyleCnt="3"/>
      <dgm:spPr/>
    </dgm:pt>
    <dgm:pt modelId="{648B75D0-3920-4917-9150-6993EAD98193}" type="pres">
      <dgm:prSet presAssocID="{2C9620B5-CED3-4A0B-A2B3-D90C1B437B3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obot"/>
        </a:ext>
      </dgm:extLst>
    </dgm:pt>
    <dgm:pt modelId="{9808EFC4-1C89-4895-964C-69A1552C70A7}" type="pres">
      <dgm:prSet presAssocID="{2C9620B5-CED3-4A0B-A2B3-D90C1B437B38}" presName="spaceRect" presStyleCnt="0"/>
      <dgm:spPr/>
    </dgm:pt>
    <dgm:pt modelId="{2ADEC9DE-3E6E-4EA4-8575-8BF8A1BDB4B7}" type="pres">
      <dgm:prSet presAssocID="{2C9620B5-CED3-4A0B-A2B3-D90C1B437B38}" presName="parTx" presStyleLbl="revTx" presStyleIdx="2" presStyleCnt="3">
        <dgm:presLayoutVars>
          <dgm:chMax val="0"/>
          <dgm:chPref val="0"/>
        </dgm:presLayoutVars>
      </dgm:prSet>
      <dgm:spPr/>
    </dgm:pt>
  </dgm:ptLst>
  <dgm:cxnLst>
    <dgm:cxn modelId="{CB179D03-0FF0-43CF-AFB3-13289CBBB30D}" type="presOf" srcId="{2C9620B5-CED3-4A0B-A2B3-D90C1B437B38}" destId="{2ADEC9DE-3E6E-4EA4-8575-8BF8A1BDB4B7}" srcOrd="0" destOrd="0" presId="urn:microsoft.com/office/officeart/2018/2/layout/IconVerticalSolidList"/>
    <dgm:cxn modelId="{06F28460-C678-4EDC-85F6-57DC9D3999D4}" srcId="{888EF50E-7AEA-4180-A1C0-BEC7300D7DF4}" destId="{59F64609-62D1-418A-BF9A-A0B596DCD68E}" srcOrd="1" destOrd="0" parTransId="{2ED56450-BC74-4D39-ABF6-2E39BF47F7FD}" sibTransId="{D1D31C1A-260D-43A4-88EA-09A25FAA0088}"/>
    <dgm:cxn modelId="{FAA5BC6A-5F3C-4804-B1D8-8256F3B3D3A2}" type="presOf" srcId="{59F64609-62D1-418A-BF9A-A0B596DCD68E}" destId="{8DA0A19E-0D36-4C69-8D4A-ECEC9F20EFFF}" srcOrd="0" destOrd="0" presId="urn:microsoft.com/office/officeart/2018/2/layout/IconVerticalSolidList"/>
    <dgm:cxn modelId="{9BE0AE6F-DE9E-4AD5-85E4-EF743015E037}" srcId="{888EF50E-7AEA-4180-A1C0-BEC7300D7DF4}" destId="{2C9620B5-CED3-4A0B-A2B3-D90C1B437B38}" srcOrd="2" destOrd="0" parTransId="{7381D9F3-AD79-482A-A73C-028328866456}" sibTransId="{4D23FC24-DE8F-4BAA-A12B-70B2218CD503}"/>
    <dgm:cxn modelId="{B3FEE385-8CD0-4BFE-8E10-E19D863075B1}" type="presOf" srcId="{888EF50E-7AEA-4180-A1C0-BEC7300D7DF4}" destId="{14647A06-1377-48B2-A027-BEFF884373B8}" srcOrd="0" destOrd="0" presId="urn:microsoft.com/office/officeart/2018/2/layout/IconVerticalSolidList"/>
    <dgm:cxn modelId="{1BBFBC8B-42D6-464A-A85B-7AA118AF7E04}" type="presOf" srcId="{19F0F8C8-FB59-4FCC-94E6-422148075303}" destId="{AC6818C1-8F29-4D9B-915A-DFC563A383CD}" srcOrd="0" destOrd="0" presId="urn:microsoft.com/office/officeart/2018/2/layout/IconVerticalSolidList"/>
    <dgm:cxn modelId="{94F6F18F-E98F-450E-A878-B67450E869C6}" srcId="{888EF50E-7AEA-4180-A1C0-BEC7300D7DF4}" destId="{19F0F8C8-FB59-4FCC-94E6-422148075303}" srcOrd="0" destOrd="0" parTransId="{ACEA871E-D39C-49BB-8A84-7E355116B6AB}" sibTransId="{7DF0D2F0-223D-4683-8094-6E94C2934CE0}"/>
    <dgm:cxn modelId="{A9EAD6C5-B1A3-499B-B62E-5852089E4329}" type="presParOf" srcId="{14647A06-1377-48B2-A027-BEFF884373B8}" destId="{202F5E68-397F-4698-A3A8-21753A7A0CC4}" srcOrd="0" destOrd="0" presId="urn:microsoft.com/office/officeart/2018/2/layout/IconVerticalSolidList"/>
    <dgm:cxn modelId="{AED85525-A039-412A-B178-B9534A749E58}" type="presParOf" srcId="{202F5E68-397F-4698-A3A8-21753A7A0CC4}" destId="{83D67E0D-F537-4050-BE67-1F9F240BCDE9}" srcOrd="0" destOrd="0" presId="urn:microsoft.com/office/officeart/2018/2/layout/IconVerticalSolidList"/>
    <dgm:cxn modelId="{CF7EBCC2-DF7F-40F5-B850-13F54E0B3685}" type="presParOf" srcId="{202F5E68-397F-4698-A3A8-21753A7A0CC4}" destId="{C5A8DD34-66CB-4B03-8BAA-21C7290D42B9}" srcOrd="1" destOrd="0" presId="urn:microsoft.com/office/officeart/2018/2/layout/IconVerticalSolidList"/>
    <dgm:cxn modelId="{8BC27D7A-0690-4F16-BA33-B68C3373F349}" type="presParOf" srcId="{202F5E68-397F-4698-A3A8-21753A7A0CC4}" destId="{28E36EA5-7CC7-4AC8-BF74-61758AB83160}" srcOrd="2" destOrd="0" presId="urn:microsoft.com/office/officeart/2018/2/layout/IconVerticalSolidList"/>
    <dgm:cxn modelId="{424F4817-AF75-46FF-ADC6-E664A2E09DA5}" type="presParOf" srcId="{202F5E68-397F-4698-A3A8-21753A7A0CC4}" destId="{AC6818C1-8F29-4D9B-915A-DFC563A383CD}" srcOrd="3" destOrd="0" presId="urn:microsoft.com/office/officeart/2018/2/layout/IconVerticalSolidList"/>
    <dgm:cxn modelId="{5D549E1E-CE58-4849-8094-B9B12725097F}" type="presParOf" srcId="{14647A06-1377-48B2-A027-BEFF884373B8}" destId="{B76F338B-FFD8-4E8B-9824-D770794BEA69}" srcOrd="1" destOrd="0" presId="urn:microsoft.com/office/officeart/2018/2/layout/IconVerticalSolidList"/>
    <dgm:cxn modelId="{781B5F1C-D617-45E4-94A2-1886A4F2DD28}" type="presParOf" srcId="{14647A06-1377-48B2-A027-BEFF884373B8}" destId="{95DAEBC2-BDE0-4E53-B3A9-8875F96D148D}" srcOrd="2" destOrd="0" presId="urn:microsoft.com/office/officeart/2018/2/layout/IconVerticalSolidList"/>
    <dgm:cxn modelId="{5A2D2406-6FF9-4173-8DE1-A4AA804EB6E0}" type="presParOf" srcId="{95DAEBC2-BDE0-4E53-B3A9-8875F96D148D}" destId="{BA800393-02F3-43B4-B31B-4F432AE6BEBD}" srcOrd="0" destOrd="0" presId="urn:microsoft.com/office/officeart/2018/2/layout/IconVerticalSolidList"/>
    <dgm:cxn modelId="{51373A20-7ADC-4973-B133-8DAAC82EA304}" type="presParOf" srcId="{95DAEBC2-BDE0-4E53-B3A9-8875F96D148D}" destId="{9994E0F2-BD22-49F0-95A4-2A87618A8EFA}" srcOrd="1" destOrd="0" presId="urn:microsoft.com/office/officeart/2018/2/layout/IconVerticalSolidList"/>
    <dgm:cxn modelId="{89F0CBCB-3F3C-4A63-91C2-0B71020E0443}" type="presParOf" srcId="{95DAEBC2-BDE0-4E53-B3A9-8875F96D148D}" destId="{6E3EBB2D-636C-483A-B18E-04F43C534722}" srcOrd="2" destOrd="0" presId="urn:microsoft.com/office/officeart/2018/2/layout/IconVerticalSolidList"/>
    <dgm:cxn modelId="{04A6C80A-C278-4398-A655-B87AF1B9BADE}" type="presParOf" srcId="{95DAEBC2-BDE0-4E53-B3A9-8875F96D148D}" destId="{8DA0A19E-0D36-4C69-8D4A-ECEC9F20EFFF}" srcOrd="3" destOrd="0" presId="urn:microsoft.com/office/officeart/2018/2/layout/IconVerticalSolidList"/>
    <dgm:cxn modelId="{D0388063-4D97-4E7D-A42B-250C1CD7117A}" type="presParOf" srcId="{14647A06-1377-48B2-A027-BEFF884373B8}" destId="{2E15290F-CBE9-4DED-964C-73F6E73B326E}" srcOrd="3" destOrd="0" presId="urn:microsoft.com/office/officeart/2018/2/layout/IconVerticalSolidList"/>
    <dgm:cxn modelId="{95874FEA-791C-4877-84AB-35741FA558CC}" type="presParOf" srcId="{14647A06-1377-48B2-A027-BEFF884373B8}" destId="{0F4C1767-A334-46D7-A811-675F3F122001}" srcOrd="4" destOrd="0" presId="urn:microsoft.com/office/officeart/2018/2/layout/IconVerticalSolidList"/>
    <dgm:cxn modelId="{AEA0D111-E757-438F-827E-CAD566B4BD4C}" type="presParOf" srcId="{0F4C1767-A334-46D7-A811-675F3F122001}" destId="{4BC1917D-1AD8-43D2-A6F1-F44BD59B3904}" srcOrd="0" destOrd="0" presId="urn:microsoft.com/office/officeart/2018/2/layout/IconVerticalSolidList"/>
    <dgm:cxn modelId="{127FCFC1-9561-476A-B38A-7AD3703087BB}" type="presParOf" srcId="{0F4C1767-A334-46D7-A811-675F3F122001}" destId="{648B75D0-3920-4917-9150-6993EAD98193}" srcOrd="1" destOrd="0" presId="urn:microsoft.com/office/officeart/2018/2/layout/IconVerticalSolidList"/>
    <dgm:cxn modelId="{CD3CCD1E-B4C8-4D3F-AEE8-4D8D4FE40E52}" type="presParOf" srcId="{0F4C1767-A334-46D7-A811-675F3F122001}" destId="{9808EFC4-1C89-4895-964C-69A1552C70A7}" srcOrd="2" destOrd="0" presId="urn:microsoft.com/office/officeart/2018/2/layout/IconVerticalSolidList"/>
    <dgm:cxn modelId="{07B5D7B0-E2C3-4BA0-9D25-1BE342BA3261}" type="presParOf" srcId="{0F4C1767-A334-46D7-A811-675F3F122001}" destId="{2ADEC9DE-3E6E-4EA4-8575-8BF8A1BDB4B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D67E0D-F537-4050-BE67-1F9F240BCDE9}">
      <dsp:nvSpPr>
        <dsp:cNvPr id="0" name=""/>
        <dsp:cNvSpPr/>
      </dsp:nvSpPr>
      <dsp:spPr>
        <a:xfrm>
          <a:off x="0" y="717"/>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A8DD34-66CB-4B03-8BAA-21C7290D42B9}">
      <dsp:nvSpPr>
        <dsp:cNvPr id="0" name=""/>
        <dsp:cNvSpPr/>
      </dsp:nvSpPr>
      <dsp:spPr>
        <a:xfrm>
          <a:off x="507973" y="378548"/>
          <a:ext cx="923587" cy="9235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C6818C1-8F29-4D9B-915A-DFC563A383CD}">
      <dsp:nvSpPr>
        <dsp:cNvPr id="0" name=""/>
        <dsp:cNvSpPr/>
      </dsp:nvSpPr>
      <dsp:spPr>
        <a:xfrm>
          <a:off x="1939533" y="717"/>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022350">
            <a:lnSpc>
              <a:spcPct val="90000"/>
            </a:lnSpc>
            <a:spcBef>
              <a:spcPct val="0"/>
            </a:spcBef>
            <a:spcAft>
              <a:spcPct val="35000"/>
            </a:spcAft>
            <a:buNone/>
          </a:pPr>
          <a:r>
            <a:rPr lang="en-US" sz="2300" kern="1200"/>
            <a:t>You describe what you want in natural language and the AI generates and refines the code</a:t>
          </a:r>
        </a:p>
      </dsp:txBody>
      <dsp:txXfrm>
        <a:off x="1939533" y="717"/>
        <a:ext cx="4362067" cy="1679249"/>
      </dsp:txXfrm>
    </dsp:sp>
    <dsp:sp modelId="{BA800393-02F3-43B4-B31B-4F432AE6BEBD}">
      <dsp:nvSpPr>
        <dsp:cNvPr id="0" name=""/>
        <dsp:cNvSpPr/>
      </dsp:nvSpPr>
      <dsp:spPr>
        <a:xfrm>
          <a:off x="0" y="2099779"/>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94E0F2-BD22-49F0-95A4-2A87618A8EFA}">
      <dsp:nvSpPr>
        <dsp:cNvPr id="0" name=""/>
        <dsp:cNvSpPr/>
      </dsp:nvSpPr>
      <dsp:spPr>
        <a:xfrm>
          <a:off x="507973" y="2477610"/>
          <a:ext cx="923587" cy="9235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DA0A19E-0D36-4C69-8D4A-ECEC9F20EFFF}">
      <dsp:nvSpPr>
        <dsp:cNvPr id="0" name=""/>
        <dsp:cNvSpPr/>
      </dsp:nvSpPr>
      <dsp:spPr>
        <a:xfrm>
          <a:off x="1939533" y="2099779"/>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022350">
            <a:lnSpc>
              <a:spcPct val="90000"/>
            </a:lnSpc>
            <a:spcBef>
              <a:spcPct val="0"/>
            </a:spcBef>
            <a:spcAft>
              <a:spcPct val="35000"/>
            </a:spcAft>
            <a:buNone/>
          </a:pPr>
          <a:r>
            <a:rPr lang="en-US" sz="2300" kern="1200"/>
            <a:t>AI: generate, run, refine, debug the code</a:t>
          </a:r>
        </a:p>
      </dsp:txBody>
      <dsp:txXfrm>
        <a:off x="1939533" y="2099779"/>
        <a:ext cx="4362067" cy="1679249"/>
      </dsp:txXfrm>
    </dsp:sp>
    <dsp:sp modelId="{4BC1917D-1AD8-43D2-A6F1-F44BD59B3904}">
      <dsp:nvSpPr>
        <dsp:cNvPr id="0" name=""/>
        <dsp:cNvSpPr/>
      </dsp:nvSpPr>
      <dsp:spPr>
        <a:xfrm>
          <a:off x="0" y="4198841"/>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8B75D0-3920-4917-9150-6993EAD98193}">
      <dsp:nvSpPr>
        <dsp:cNvPr id="0" name=""/>
        <dsp:cNvSpPr/>
      </dsp:nvSpPr>
      <dsp:spPr>
        <a:xfrm>
          <a:off x="507973" y="4576672"/>
          <a:ext cx="923587" cy="9235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ADEC9DE-3E6E-4EA4-8575-8BF8A1BDB4B7}">
      <dsp:nvSpPr>
        <dsp:cNvPr id="0" name=""/>
        <dsp:cNvSpPr/>
      </dsp:nvSpPr>
      <dsp:spPr>
        <a:xfrm>
          <a:off x="1939533" y="4198841"/>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022350">
            <a:lnSpc>
              <a:spcPct val="90000"/>
            </a:lnSpc>
            <a:spcBef>
              <a:spcPct val="0"/>
            </a:spcBef>
            <a:spcAft>
              <a:spcPct val="35000"/>
            </a:spcAft>
            <a:buNone/>
          </a:pPr>
          <a:r>
            <a:rPr lang="en-US" sz="2300" kern="1200"/>
            <a:t>Human: provide oversight, reasoning, quality control</a:t>
          </a:r>
        </a:p>
      </dsp:txBody>
      <dsp:txXfrm>
        <a:off x="1939533" y="4198841"/>
        <a:ext cx="4362067" cy="167924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1F8F5A-0EEC-9A45-B252-FB738D9300C7}" type="datetimeFigureOut">
              <a:rPr lang="en-US" smtClean="0"/>
              <a:t>1/26/26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F98672-345A-A64D-8FA6-B74DD8DE3D5A}" type="slidenum">
              <a:rPr lang="en-US" smtClean="0"/>
              <a:t>‹#›</a:t>
            </a:fld>
            <a:endParaRPr lang="en-US"/>
          </a:p>
        </p:txBody>
      </p:sp>
    </p:spTree>
    <p:extLst>
      <p:ext uri="{BB962C8B-B14F-4D97-AF65-F5344CB8AC3E}">
        <p14:creationId xmlns:p14="http://schemas.microsoft.com/office/powerpoint/2010/main" val="506986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a:t>
            </a:r>
            <a:r>
              <a:rPr lang="en-US" dirty="0" err="1"/>
              <a:t>yt</a:t>
            </a:r>
            <a:r>
              <a:rPr lang="en-US" dirty="0"/>
              <a:t>/Library/</a:t>
            </a:r>
            <a:r>
              <a:rPr lang="en-US" dirty="0" err="1"/>
              <a:t>CloudStorage</a:t>
            </a:r>
            <a:r>
              <a:rPr lang="en-US" dirty="0"/>
              <a:t>/OneDrive-Personal/</a:t>
            </a:r>
            <a:r>
              <a:rPr lang="en-US" dirty="0" err="1"/>
              <a:t>Phd</a:t>
            </a:r>
            <a:r>
              <a:rPr lang="en-US" dirty="0"/>
              <a:t> money/statistics committee/2026 workshop</a:t>
            </a:r>
          </a:p>
        </p:txBody>
      </p:sp>
      <p:sp>
        <p:nvSpPr>
          <p:cNvPr id="4" name="Slide Number Placeholder 3"/>
          <p:cNvSpPr>
            <a:spLocks noGrp="1"/>
          </p:cNvSpPr>
          <p:nvPr>
            <p:ph type="sldNum" sz="quarter" idx="5"/>
          </p:nvPr>
        </p:nvSpPr>
        <p:spPr/>
        <p:txBody>
          <a:bodyPr/>
          <a:lstStyle/>
          <a:p>
            <a:fld id="{26F98672-345A-A64D-8FA6-B74DD8DE3D5A}" type="slidenum">
              <a:rPr lang="en-US" smtClean="0"/>
              <a:t>7</a:t>
            </a:fld>
            <a:endParaRPr lang="en-US"/>
          </a:p>
        </p:txBody>
      </p:sp>
    </p:spTree>
    <p:extLst>
      <p:ext uri="{BB962C8B-B14F-4D97-AF65-F5344CB8AC3E}">
        <p14:creationId xmlns:p14="http://schemas.microsoft.com/office/powerpoint/2010/main" val="3567643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F98672-345A-A64D-8FA6-B74DD8DE3D5A}" type="slidenum">
              <a:rPr lang="en-US" smtClean="0"/>
              <a:t>12</a:t>
            </a:fld>
            <a:endParaRPr lang="en-US"/>
          </a:p>
        </p:txBody>
      </p:sp>
    </p:spTree>
    <p:extLst>
      <p:ext uri="{BB962C8B-B14F-4D97-AF65-F5344CB8AC3E}">
        <p14:creationId xmlns:p14="http://schemas.microsoft.com/office/powerpoint/2010/main" val="37025679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549B7-E176-EFD3-F82B-905526A000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38697AC-15EA-71A1-1336-6B408C72DF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694DAA6-051D-BC85-1DEE-3E68D36745FD}"/>
              </a:ext>
            </a:extLst>
          </p:cNvPr>
          <p:cNvSpPr>
            <a:spLocks noGrp="1"/>
          </p:cNvSpPr>
          <p:nvPr>
            <p:ph type="dt" sz="half" idx="10"/>
          </p:nvPr>
        </p:nvSpPr>
        <p:spPr/>
        <p:txBody>
          <a:bodyPr/>
          <a:lstStyle/>
          <a:p>
            <a:fld id="{86A0F394-9706-604F-A5EE-4B615CE88F98}" type="datetimeFigureOut">
              <a:rPr lang="en-US" smtClean="0"/>
              <a:t>1/26/26</a:t>
            </a:fld>
            <a:endParaRPr lang="en-US"/>
          </a:p>
        </p:txBody>
      </p:sp>
      <p:sp>
        <p:nvSpPr>
          <p:cNvPr id="5" name="Footer Placeholder 4">
            <a:extLst>
              <a:ext uri="{FF2B5EF4-FFF2-40B4-BE49-F238E27FC236}">
                <a16:creationId xmlns:a16="http://schemas.microsoft.com/office/drawing/2014/main" id="{579D42EE-49E3-1C78-8897-F5A0F82036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9ECEC9-8FB6-10F6-ADE7-178FEF0B20A3}"/>
              </a:ext>
            </a:extLst>
          </p:cNvPr>
          <p:cNvSpPr>
            <a:spLocks noGrp="1"/>
          </p:cNvSpPr>
          <p:nvPr>
            <p:ph type="sldNum" sz="quarter" idx="12"/>
          </p:nvPr>
        </p:nvSpPr>
        <p:spPr/>
        <p:txBody>
          <a:bodyPr/>
          <a:lstStyle/>
          <a:p>
            <a:fld id="{3DED70AB-64C0-7B49-8F51-B1962E48BFC3}" type="slidenum">
              <a:rPr lang="en-US" smtClean="0"/>
              <a:t>‹#›</a:t>
            </a:fld>
            <a:endParaRPr lang="en-US"/>
          </a:p>
        </p:txBody>
      </p:sp>
    </p:spTree>
    <p:extLst>
      <p:ext uri="{BB962C8B-B14F-4D97-AF65-F5344CB8AC3E}">
        <p14:creationId xmlns:p14="http://schemas.microsoft.com/office/powerpoint/2010/main" val="124532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E822C-7903-9E72-46EA-E5CBD5F4B7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82B1CC-7B90-9E81-53F1-94120C43EC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C2ADFD-11F0-60E9-9208-C07F5C209AEC}"/>
              </a:ext>
            </a:extLst>
          </p:cNvPr>
          <p:cNvSpPr>
            <a:spLocks noGrp="1"/>
          </p:cNvSpPr>
          <p:nvPr>
            <p:ph type="dt" sz="half" idx="10"/>
          </p:nvPr>
        </p:nvSpPr>
        <p:spPr/>
        <p:txBody>
          <a:bodyPr/>
          <a:lstStyle/>
          <a:p>
            <a:fld id="{86A0F394-9706-604F-A5EE-4B615CE88F98}" type="datetimeFigureOut">
              <a:rPr lang="en-US" smtClean="0"/>
              <a:t>1/26/26</a:t>
            </a:fld>
            <a:endParaRPr lang="en-US"/>
          </a:p>
        </p:txBody>
      </p:sp>
      <p:sp>
        <p:nvSpPr>
          <p:cNvPr id="5" name="Footer Placeholder 4">
            <a:extLst>
              <a:ext uri="{FF2B5EF4-FFF2-40B4-BE49-F238E27FC236}">
                <a16:creationId xmlns:a16="http://schemas.microsoft.com/office/drawing/2014/main" id="{DF3AE200-D44E-77BF-D286-AC76BDB069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45CCAB-718E-02C2-5360-AB0B66CCD9A1}"/>
              </a:ext>
            </a:extLst>
          </p:cNvPr>
          <p:cNvSpPr>
            <a:spLocks noGrp="1"/>
          </p:cNvSpPr>
          <p:nvPr>
            <p:ph type="sldNum" sz="quarter" idx="12"/>
          </p:nvPr>
        </p:nvSpPr>
        <p:spPr/>
        <p:txBody>
          <a:bodyPr/>
          <a:lstStyle/>
          <a:p>
            <a:fld id="{3DED70AB-64C0-7B49-8F51-B1962E48BFC3}" type="slidenum">
              <a:rPr lang="en-US" smtClean="0"/>
              <a:t>‹#›</a:t>
            </a:fld>
            <a:endParaRPr lang="en-US"/>
          </a:p>
        </p:txBody>
      </p:sp>
    </p:spTree>
    <p:extLst>
      <p:ext uri="{BB962C8B-B14F-4D97-AF65-F5344CB8AC3E}">
        <p14:creationId xmlns:p14="http://schemas.microsoft.com/office/powerpoint/2010/main" val="530872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61F25-3B07-0863-8560-2AFD399E87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33B816B-B9C3-53BF-077F-0005C9BD49A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F63A3A-69E3-D09B-74D9-7F791AC53842}"/>
              </a:ext>
            </a:extLst>
          </p:cNvPr>
          <p:cNvSpPr>
            <a:spLocks noGrp="1"/>
          </p:cNvSpPr>
          <p:nvPr>
            <p:ph type="dt" sz="half" idx="10"/>
          </p:nvPr>
        </p:nvSpPr>
        <p:spPr/>
        <p:txBody>
          <a:bodyPr/>
          <a:lstStyle/>
          <a:p>
            <a:fld id="{86A0F394-9706-604F-A5EE-4B615CE88F98}" type="datetimeFigureOut">
              <a:rPr lang="en-US" smtClean="0"/>
              <a:t>1/26/26</a:t>
            </a:fld>
            <a:endParaRPr lang="en-US"/>
          </a:p>
        </p:txBody>
      </p:sp>
      <p:sp>
        <p:nvSpPr>
          <p:cNvPr id="5" name="Footer Placeholder 4">
            <a:extLst>
              <a:ext uri="{FF2B5EF4-FFF2-40B4-BE49-F238E27FC236}">
                <a16:creationId xmlns:a16="http://schemas.microsoft.com/office/drawing/2014/main" id="{83AEE3EE-39C7-A80C-F5FA-672BFF2599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491018-8CD5-A89F-4A52-9AEE3A591740}"/>
              </a:ext>
            </a:extLst>
          </p:cNvPr>
          <p:cNvSpPr>
            <a:spLocks noGrp="1"/>
          </p:cNvSpPr>
          <p:nvPr>
            <p:ph type="sldNum" sz="quarter" idx="12"/>
          </p:nvPr>
        </p:nvSpPr>
        <p:spPr/>
        <p:txBody>
          <a:bodyPr/>
          <a:lstStyle/>
          <a:p>
            <a:fld id="{3DED70AB-64C0-7B49-8F51-B1962E48BFC3}" type="slidenum">
              <a:rPr lang="en-US" smtClean="0"/>
              <a:t>‹#›</a:t>
            </a:fld>
            <a:endParaRPr lang="en-US"/>
          </a:p>
        </p:txBody>
      </p:sp>
    </p:spTree>
    <p:extLst>
      <p:ext uri="{BB962C8B-B14F-4D97-AF65-F5344CB8AC3E}">
        <p14:creationId xmlns:p14="http://schemas.microsoft.com/office/powerpoint/2010/main" val="1097383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65B26-AF6B-419A-CE9D-BD30A8EFA1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1A63DD-1239-00C8-FD55-E94B4FCF20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0D34457-4C3D-0D8A-61A1-069193704B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F05B459-C40D-1DD3-B6AE-A11B1E9965B7}"/>
              </a:ext>
            </a:extLst>
          </p:cNvPr>
          <p:cNvSpPr>
            <a:spLocks noGrp="1"/>
          </p:cNvSpPr>
          <p:nvPr>
            <p:ph type="dt" sz="half" idx="10"/>
          </p:nvPr>
        </p:nvSpPr>
        <p:spPr/>
        <p:txBody>
          <a:bodyPr/>
          <a:lstStyle/>
          <a:p>
            <a:fld id="{86A0F394-9706-604F-A5EE-4B615CE88F98}" type="datetimeFigureOut">
              <a:rPr lang="en-US" smtClean="0"/>
              <a:t>1/26/26</a:t>
            </a:fld>
            <a:endParaRPr lang="en-US"/>
          </a:p>
        </p:txBody>
      </p:sp>
      <p:sp>
        <p:nvSpPr>
          <p:cNvPr id="6" name="Footer Placeholder 5">
            <a:extLst>
              <a:ext uri="{FF2B5EF4-FFF2-40B4-BE49-F238E27FC236}">
                <a16:creationId xmlns:a16="http://schemas.microsoft.com/office/drawing/2014/main" id="{11E5128A-079D-A1D0-8B58-42B5654A06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D097A6-FC54-4A44-D076-1F0AC511C281}"/>
              </a:ext>
            </a:extLst>
          </p:cNvPr>
          <p:cNvSpPr>
            <a:spLocks noGrp="1"/>
          </p:cNvSpPr>
          <p:nvPr>
            <p:ph type="sldNum" sz="quarter" idx="12"/>
          </p:nvPr>
        </p:nvSpPr>
        <p:spPr/>
        <p:txBody>
          <a:bodyPr/>
          <a:lstStyle/>
          <a:p>
            <a:fld id="{3DED70AB-64C0-7B49-8F51-B1962E48BFC3}" type="slidenum">
              <a:rPr lang="en-US" smtClean="0"/>
              <a:t>‹#›</a:t>
            </a:fld>
            <a:endParaRPr lang="en-US"/>
          </a:p>
        </p:txBody>
      </p:sp>
    </p:spTree>
    <p:extLst>
      <p:ext uri="{BB962C8B-B14F-4D97-AF65-F5344CB8AC3E}">
        <p14:creationId xmlns:p14="http://schemas.microsoft.com/office/powerpoint/2010/main" val="2584702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C761D-249D-D302-C68E-3AA9BD6D9FB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28CAAAF-4095-005A-86A1-9429DFC28C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A04474-F4C8-D7C9-ABDF-15C142596A5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0FFF192-EF34-E757-1358-9700A9C158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C5AF6A-06DB-F418-6A33-F1EB1FD46D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BCED877-4FC1-CB02-DB44-1E79261D068D}"/>
              </a:ext>
            </a:extLst>
          </p:cNvPr>
          <p:cNvSpPr>
            <a:spLocks noGrp="1"/>
          </p:cNvSpPr>
          <p:nvPr>
            <p:ph type="dt" sz="half" idx="10"/>
          </p:nvPr>
        </p:nvSpPr>
        <p:spPr/>
        <p:txBody>
          <a:bodyPr/>
          <a:lstStyle/>
          <a:p>
            <a:fld id="{86A0F394-9706-604F-A5EE-4B615CE88F98}" type="datetimeFigureOut">
              <a:rPr lang="en-US" smtClean="0"/>
              <a:t>1/26/26</a:t>
            </a:fld>
            <a:endParaRPr lang="en-US"/>
          </a:p>
        </p:txBody>
      </p:sp>
      <p:sp>
        <p:nvSpPr>
          <p:cNvPr id="8" name="Footer Placeholder 7">
            <a:extLst>
              <a:ext uri="{FF2B5EF4-FFF2-40B4-BE49-F238E27FC236}">
                <a16:creationId xmlns:a16="http://schemas.microsoft.com/office/drawing/2014/main" id="{AFC2545F-1539-C104-12A1-293CB5114B3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12BFB64-2C58-CC42-C211-08E1616EC027}"/>
              </a:ext>
            </a:extLst>
          </p:cNvPr>
          <p:cNvSpPr>
            <a:spLocks noGrp="1"/>
          </p:cNvSpPr>
          <p:nvPr>
            <p:ph type="sldNum" sz="quarter" idx="12"/>
          </p:nvPr>
        </p:nvSpPr>
        <p:spPr/>
        <p:txBody>
          <a:bodyPr/>
          <a:lstStyle/>
          <a:p>
            <a:fld id="{3DED70AB-64C0-7B49-8F51-B1962E48BFC3}" type="slidenum">
              <a:rPr lang="en-US" smtClean="0"/>
              <a:t>‹#›</a:t>
            </a:fld>
            <a:endParaRPr lang="en-US"/>
          </a:p>
        </p:txBody>
      </p:sp>
    </p:spTree>
    <p:extLst>
      <p:ext uri="{BB962C8B-B14F-4D97-AF65-F5344CB8AC3E}">
        <p14:creationId xmlns:p14="http://schemas.microsoft.com/office/powerpoint/2010/main" val="1202025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A2424-7237-6FAD-72B3-18ADDD38FC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3EEC99-6716-F148-60E2-BEEF4E858B46}"/>
              </a:ext>
            </a:extLst>
          </p:cNvPr>
          <p:cNvSpPr>
            <a:spLocks noGrp="1"/>
          </p:cNvSpPr>
          <p:nvPr>
            <p:ph type="dt" sz="half" idx="10"/>
          </p:nvPr>
        </p:nvSpPr>
        <p:spPr/>
        <p:txBody>
          <a:bodyPr/>
          <a:lstStyle/>
          <a:p>
            <a:fld id="{86A0F394-9706-604F-A5EE-4B615CE88F98}" type="datetimeFigureOut">
              <a:rPr lang="en-US" smtClean="0"/>
              <a:t>1/26/26</a:t>
            </a:fld>
            <a:endParaRPr lang="en-US"/>
          </a:p>
        </p:txBody>
      </p:sp>
      <p:sp>
        <p:nvSpPr>
          <p:cNvPr id="4" name="Footer Placeholder 3">
            <a:extLst>
              <a:ext uri="{FF2B5EF4-FFF2-40B4-BE49-F238E27FC236}">
                <a16:creationId xmlns:a16="http://schemas.microsoft.com/office/drawing/2014/main" id="{1C8F625D-4848-697B-3694-A95C16FE01F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DB4F392-D71A-34B5-1C2B-68AFCC4D07A9}"/>
              </a:ext>
            </a:extLst>
          </p:cNvPr>
          <p:cNvSpPr>
            <a:spLocks noGrp="1"/>
          </p:cNvSpPr>
          <p:nvPr>
            <p:ph type="sldNum" sz="quarter" idx="12"/>
          </p:nvPr>
        </p:nvSpPr>
        <p:spPr/>
        <p:txBody>
          <a:bodyPr/>
          <a:lstStyle/>
          <a:p>
            <a:fld id="{3DED70AB-64C0-7B49-8F51-B1962E48BFC3}" type="slidenum">
              <a:rPr lang="en-US" smtClean="0"/>
              <a:t>‹#›</a:t>
            </a:fld>
            <a:endParaRPr lang="en-US"/>
          </a:p>
        </p:txBody>
      </p:sp>
    </p:spTree>
    <p:extLst>
      <p:ext uri="{BB962C8B-B14F-4D97-AF65-F5344CB8AC3E}">
        <p14:creationId xmlns:p14="http://schemas.microsoft.com/office/powerpoint/2010/main" val="39635106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9F86AF-7C47-3871-52ED-9455BE0B284F}"/>
              </a:ext>
            </a:extLst>
          </p:cNvPr>
          <p:cNvSpPr>
            <a:spLocks noGrp="1"/>
          </p:cNvSpPr>
          <p:nvPr>
            <p:ph type="dt" sz="half" idx="10"/>
          </p:nvPr>
        </p:nvSpPr>
        <p:spPr/>
        <p:txBody>
          <a:bodyPr/>
          <a:lstStyle/>
          <a:p>
            <a:fld id="{86A0F394-9706-604F-A5EE-4B615CE88F98}" type="datetimeFigureOut">
              <a:rPr lang="en-US" smtClean="0"/>
              <a:t>1/26/26</a:t>
            </a:fld>
            <a:endParaRPr lang="en-US"/>
          </a:p>
        </p:txBody>
      </p:sp>
      <p:sp>
        <p:nvSpPr>
          <p:cNvPr id="3" name="Footer Placeholder 2">
            <a:extLst>
              <a:ext uri="{FF2B5EF4-FFF2-40B4-BE49-F238E27FC236}">
                <a16:creationId xmlns:a16="http://schemas.microsoft.com/office/drawing/2014/main" id="{6C715AEF-9A6F-23BF-0017-75F772ED8E3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170E8EA-3DDA-4A21-AE9D-6D511D76EEC9}"/>
              </a:ext>
            </a:extLst>
          </p:cNvPr>
          <p:cNvSpPr>
            <a:spLocks noGrp="1"/>
          </p:cNvSpPr>
          <p:nvPr>
            <p:ph type="sldNum" sz="quarter" idx="12"/>
          </p:nvPr>
        </p:nvSpPr>
        <p:spPr/>
        <p:txBody>
          <a:bodyPr/>
          <a:lstStyle/>
          <a:p>
            <a:fld id="{3DED70AB-64C0-7B49-8F51-B1962E48BFC3}" type="slidenum">
              <a:rPr lang="en-US" smtClean="0"/>
              <a:t>‹#›</a:t>
            </a:fld>
            <a:endParaRPr lang="en-US"/>
          </a:p>
        </p:txBody>
      </p:sp>
    </p:spTree>
    <p:extLst>
      <p:ext uri="{BB962C8B-B14F-4D97-AF65-F5344CB8AC3E}">
        <p14:creationId xmlns:p14="http://schemas.microsoft.com/office/powerpoint/2010/main" val="590110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2AE4C-F8CE-3867-10CF-83626369F7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43700A6-42A5-B176-1E84-33D34D31C6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681514C-8972-0321-50A2-E7415390FE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59C581-F6A2-8037-DEAB-D6A3A1E62CBF}"/>
              </a:ext>
            </a:extLst>
          </p:cNvPr>
          <p:cNvSpPr>
            <a:spLocks noGrp="1"/>
          </p:cNvSpPr>
          <p:nvPr>
            <p:ph type="dt" sz="half" idx="10"/>
          </p:nvPr>
        </p:nvSpPr>
        <p:spPr/>
        <p:txBody>
          <a:bodyPr/>
          <a:lstStyle/>
          <a:p>
            <a:fld id="{86A0F394-9706-604F-A5EE-4B615CE88F98}" type="datetimeFigureOut">
              <a:rPr lang="en-US" smtClean="0"/>
              <a:t>1/26/26</a:t>
            </a:fld>
            <a:endParaRPr lang="en-US"/>
          </a:p>
        </p:txBody>
      </p:sp>
      <p:sp>
        <p:nvSpPr>
          <p:cNvPr id="6" name="Footer Placeholder 5">
            <a:extLst>
              <a:ext uri="{FF2B5EF4-FFF2-40B4-BE49-F238E27FC236}">
                <a16:creationId xmlns:a16="http://schemas.microsoft.com/office/drawing/2014/main" id="{9B21BE6D-DAB3-BBCD-83F6-0E3646852C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8DFB4B-377E-8F3E-61FA-6624D59881AF}"/>
              </a:ext>
            </a:extLst>
          </p:cNvPr>
          <p:cNvSpPr>
            <a:spLocks noGrp="1"/>
          </p:cNvSpPr>
          <p:nvPr>
            <p:ph type="sldNum" sz="quarter" idx="12"/>
          </p:nvPr>
        </p:nvSpPr>
        <p:spPr/>
        <p:txBody>
          <a:bodyPr/>
          <a:lstStyle/>
          <a:p>
            <a:fld id="{3DED70AB-64C0-7B49-8F51-B1962E48BFC3}" type="slidenum">
              <a:rPr lang="en-US" smtClean="0"/>
              <a:t>‹#›</a:t>
            </a:fld>
            <a:endParaRPr lang="en-US"/>
          </a:p>
        </p:txBody>
      </p:sp>
    </p:spTree>
    <p:extLst>
      <p:ext uri="{BB962C8B-B14F-4D97-AF65-F5344CB8AC3E}">
        <p14:creationId xmlns:p14="http://schemas.microsoft.com/office/powerpoint/2010/main" val="1216177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6C186-8CAB-8ACF-ABF2-F951F3D860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51034D5-A0DF-DEFD-92CA-9F7761024E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257D25B-E9E0-C9DC-4BCF-9C65BCC323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9D8AC8-9CB0-B4D8-5B90-8AA03B3ED8F7}"/>
              </a:ext>
            </a:extLst>
          </p:cNvPr>
          <p:cNvSpPr>
            <a:spLocks noGrp="1"/>
          </p:cNvSpPr>
          <p:nvPr>
            <p:ph type="dt" sz="half" idx="10"/>
          </p:nvPr>
        </p:nvSpPr>
        <p:spPr/>
        <p:txBody>
          <a:bodyPr/>
          <a:lstStyle/>
          <a:p>
            <a:fld id="{86A0F394-9706-604F-A5EE-4B615CE88F98}" type="datetimeFigureOut">
              <a:rPr lang="en-US" smtClean="0"/>
              <a:t>1/26/26</a:t>
            </a:fld>
            <a:endParaRPr lang="en-US"/>
          </a:p>
        </p:txBody>
      </p:sp>
      <p:sp>
        <p:nvSpPr>
          <p:cNvPr id="6" name="Footer Placeholder 5">
            <a:extLst>
              <a:ext uri="{FF2B5EF4-FFF2-40B4-BE49-F238E27FC236}">
                <a16:creationId xmlns:a16="http://schemas.microsoft.com/office/drawing/2014/main" id="{3FAA3745-EB26-D12B-38C9-3DCC327AF4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1C1A5-BDEF-7B9C-3E1B-20B3096EED26}"/>
              </a:ext>
            </a:extLst>
          </p:cNvPr>
          <p:cNvSpPr>
            <a:spLocks noGrp="1"/>
          </p:cNvSpPr>
          <p:nvPr>
            <p:ph type="sldNum" sz="quarter" idx="12"/>
          </p:nvPr>
        </p:nvSpPr>
        <p:spPr/>
        <p:txBody>
          <a:bodyPr/>
          <a:lstStyle/>
          <a:p>
            <a:fld id="{3DED70AB-64C0-7B49-8F51-B1962E48BFC3}" type="slidenum">
              <a:rPr lang="en-US" smtClean="0"/>
              <a:t>‹#›</a:t>
            </a:fld>
            <a:endParaRPr lang="en-US"/>
          </a:p>
        </p:txBody>
      </p:sp>
    </p:spTree>
    <p:extLst>
      <p:ext uri="{BB962C8B-B14F-4D97-AF65-F5344CB8AC3E}">
        <p14:creationId xmlns:p14="http://schemas.microsoft.com/office/powerpoint/2010/main" val="2973314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6F20E-6C85-8FBB-5E36-29905157C15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38692D4-6C4E-C7E9-042F-4624AD9F68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2CBBC5-B5C8-12F2-74F3-D15491B2C161}"/>
              </a:ext>
            </a:extLst>
          </p:cNvPr>
          <p:cNvSpPr>
            <a:spLocks noGrp="1"/>
          </p:cNvSpPr>
          <p:nvPr>
            <p:ph type="dt" sz="half" idx="10"/>
          </p:nvPr>
        </p:nvSpPr>
        <p:spPr/>
        <p:txBody>
          <a:bodyPr/>
          <a:lstStyle/>
          <a:p>
            <a:fld id="{86A0F394-9706-604F-A5EE-4B615CE88F98}" type="datetimeFigureOut">
              <a:rPr lang="en-US" smtClean="0"/>
              <a:t>1/26/26</a:t>
            </a:fld>
            <a:endParaRPr lang="en-US"/>
          </a:p>
        </p:txBody>
      </p:sp>
      <p:sp>
        <p:nvSpPr>
          <p:cNvPr id="5" name="Footer Placeholder 4">
            <a:extLst>
              <a:ext uri="{FF2B5EF4-FFF2-40B4-BE49-F238E27FC236}">
                <a16:creationId xmlns:a16="http://schemas.microsoft.com/office/drawing/2014/main" id="{15B2DC6A-7078-F39E-7748-4BBD9F3B89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C21251-F439-329B-B0C7-D5716D801869}"/>
              </a:ext>
            </a:extLst>
          </p:cNvPr>
          <p:cNvSpPr>
            <a:spLocks noGrp="1"/>
          </p:cNvSpPr>
          <p:nvPr>
            <p:ph type="sldNum" sz="quarter" idx="12"/>
          </p:nvPr>
        </p:nvSpPr>
        <p:spPr/>
        <p:txBody>
          <a:bodyPr/>
          <a:lstStyle/>
          <a:p>
            <a:fld id="{3DED70AB-64C0-7B49-8F51-B1962E48BFC3}" type="slidenum">
              <a:rPr lang="en-US" smtClean="0"/>
              <a:t>‹#›</a:t>
            </a:fld>
            <a:endParaRPr lang="en-US"/>
          </a:p>
        </p:txBody>
      </p:sp>
    </p:spTree>
    <p:extLst>
      <p:ext uri="{BB962C8B-B14F-4D97-AF65-F5344CB8AC3E}">
        <p14:creationId xmlns:p14="http://schemas.microsoft.com/office/powerpoint/2010/main" val="3151469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629E7D-E1F5-943B-9955-A06EEDAA7D4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FB2B74C-EAB2-646A-97EB-B1EC137839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E32C3E-B384-28DA-E12F-4CA6BD638719}"/>
              </a:ext>
            </a:extLst>
          </p:cNvPr>
          <p:cNvSpPr>
            <a:spLocks noGrp="1"/>
          </p:cNvSpPr>
          <p:nvPr>
            <p:ph type="dt" sz="half" idx="10"/>
          </p:nvPr>
        </p:nvSpPr>
        <p:spPr/>
        <p:txBody>
          <a:bodyPr/>
          <a:lstStyle/>
          <a:p>
            <a:fld id="{86A0F394-9706-604F-A5EE-4B615CE88F98}" type="datetimeFigureOut">
              <a:rPr lang="en-US" smtClean="0"/>
              <a:t>1/26/26</a:t>
            </a:fld>
            <a:endParaRPr lang="en-US"/>
          </a:p>
        </p:txBody>
      </p:sp>
      <p:sp>
        <p:nvSpPr>
          <p:cNvPr id="5" name="Footer Placeholder 4">
            <a:extLst>
              <a:ext uri="{FF2B5EF4-FFF2-40B4-BE49-F238E27FC236}">
                <a16:creationId xmlns:a16="http://schemas.microsoft.com/office/drawing/2014/main" id="{CFBE2CD3-3249-7ABB-36C7-AEF29FDD97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24038D-FC1A-2651-1FBB-86D2C47A5507}"/>
              </a:ext>
            </a:extLst>
          </p:cNvPr>
          <p:cNvSpPr>
            <a:spLocks noGrp="1"/>
          </p:cNvSpPr>
          <p:nvPr>
            <p:ph type="sldNum" sz="quarter" idx="12"/>
          </p:nvPr>
        </p:nvSpPr>
        <p:spPr/>
        <p:txBody>
          <a:bodyPr/>
          <a:lstStyle/>
          <a:p>
            <a:fld id="{3DED70AB-64C0-7B49-8F51-B1962E48BFC3}" type="slidenum">
              <a:rPr lang="en-US" smtClean="0"/>
              <a:t>‹#›</a:t>
            </a:fld>
            <a:endParaRPr lang="en-US"/>
          </a:p>
        </p:txBody>
      </p:sp>
    </p:spTree>
    <p:extLst>
      <p:ext uri="{BB962C8B-B14F-4D97-AF65-F5344CB8AC3E}">
        <p14:creationId xmlns:p14="http://schemas.microsoft.com/office/powerpoint/2010/main" val="1753864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BE0F0F-EC47-874E-B63E-F70652A0AA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809E83E-45E9-890B-CCBB-185023A6C2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F16419-B69B-3CC2-C395-0127DF63A9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6A0F394-9706-604F-A5EE-4B615CE88F98}" type="datetimeFigureOut">
              <a:rPr lang="en-US" smtClean="0"/>
              <a:t>1/26/26</a:t>
            </a:fld>
            <a:endParaRPr lang="en-US"/>
          </a:p>
        </p:txBody>
      </p:sp>
      <p:sp>
        <p:nvSpPr>
          <p:cNvPr id="5" name="Footer Placeholder 4">
            <a:extLst>
              <a:ext uri="{FF2B5EF4-FFF2-40B4-BE49-F238E27FC236}">
                <a16:creationId xmlns:a16="http://schemas.microsoft.com/office/drawing/2014/main" id="{3DF98EBE-4DA1-A785-F62D-73496CBC9B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E05FED7-D3EE-C663-D214-75ACFBD1F2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DED70AB-64C0-7B49-8F51-B1962E48BFC3}" type="slidenum">
              <a:rPr lang="en-US" smtClean="0"/>
              <a:t>‹#›</a:t>
            </a:fld>
            <a:endParaRPr lang="en-US"/>
          </a:p>
        </p:txBody>
      </p:sp>
    </p:spTree>
    <p:extLst>
      <p:ext uri="{BB962C8B-B14F-4D97-AF65-F5344CB8AC3E}">
        <p14:creationId xmlns:p14="http://schemas.microsoft.com/office/powerpoint/2010/main" val="18488942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963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1" name="Slide Background Fill">
            <a:extLst>
              <a:ext uri="{FF2B5EF4-FFF2-40B4-BE49-F238E27FC236}">
                <a16:creationId xmlns:a16="http://schemas.microsoft.com/office/drawing/2014/main" id="{C04DA1FE-EBEF-4AF3-A3C6-067C78D4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963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color fill">
            <a:extLst>
              <a:ext uri="{FF2B5EF4-FFF2-40B4-BE49-F238E27FC236}">
                <a16:creationId xmlns:a16="http://schemas.microsoft.com/office/drawing/2014/main" id="{8B1B3E66-23F5-436C-A0C1-32A666D280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634"/>
            <a:ext cx="12188949"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descr="Blue digital binary data on a screen">
            <a:extLst>
              <a:ext uri="{FF2B5EF4-FFF2-40B4-BE49-F238E27FC236}">
                <a16:creationId xmlns:a16="http://schemas.microsoft.com/office/drawing/2014/main" id="{5F1A5316-971B-9D6E-72BB-1C4675CF967D}"/>
              </a:ext>
            </a:extLst>
          </p:cNvPr>
          <p:cNvPicPr>
            <a:picLocks noChangeAspect="1"/>
          </p:cNvPicPr>
          <p:nvPr/>
        </p:nvPicPr>
        <p:blipFill>
          <a:blip r:embed="rId2">
            <a:alphaModFix amt="31000"/>
          </a:blip>
          <a:srcRect/>
          <a:stretch>
            <a:fillRect/>
          </a:stretch>
        </p:blipFill>
        <p:spPr>
          <a:xfrm>
            <a:off x="3048" y="14767"/>
            <a:ext cx="12192001" cy="6858000"/>
          </a:xfrm>
          <a:prstGeom prst="rect">
            <a:avLst/>
          </a:prstGeom>
        </p:spPr>
      </p:pic>
      <p:grpSp>
        <p:nvGrpSpPr>
          <p:cNvPr id="15" name="Group 14">
            <a:extLst>
              <a:ext uri="{FF2B5EF4-FFF2-40B4-BE49-F238E27FC236}">
                <a16:creationId xmlns:a16="http://schemas.microsoft.com/office/drawing/2014/main" id="{28EC230A-A12C-4339-92EE-F850809ECEA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0" y="0"/>
            <a:chExt cx="12188952" cy="6858000"/>
          </a:xfrm>
        </p:grpSpPr>
        <p:sp>
          <p:nvSpPr>
            <p:cNvPr id="16" name="Freeform: Shape 15">
              <a:extLst>
                <a:ext uri="{FF2B5EF4-FFF2-40B4-BE49-F238E27FC236}">
                  <a16:creationId xmlns:a16="http://schemas.microsoft.com/office/drawing/2014/main" id="{99266DA8-A1F2-4B9F-AD49-F0F4270B50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85EAE53-C456-4300-BEA6-3AF8CC0F5F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831E0EBD-0F61-4DE9-9397-8E53620710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E00BA56C-1B81-460E-96B4-6E0DDE6778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0F84DEAC-B1F0-4AAF-9532-1F93B473F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3E9BF985-74AA-43F0-A812-F4CD338417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AA31C745-2F56-4B25-8616-92358DAFA0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CA75488-B63B-3297-C17D-07E936E0283B}"/>
              </a:ext>
            </a:extLst>
          </p:cNvPr>
          <p:cNvSpPr>
            <a:spLocks noGrp="1"/>
          </p:cNvSpPr>
          <p:nvPr>
            <p:ph type="ctrTitle"/>
          </p:nvPr>
        </p:nvSpPr>
        <p:spPr>
          <a:xfrm>
            <a:off x="789708" y="666352"/>
            <a:ext cx="10558405" cy="3039374"/>
          </a:xfrm>
        </p:spPr>
        <p:txBody>
          <a:bodyPr anchor="b">
            <a:normAutofit/>
          </a:bodyPr>
          <a:lstStyle/>
          <a:p>
            <a:r>
              <a:rPr lang="en-US" sz="4800">
                <a:solidFill>
                  <a:schemeClr val="bg1"/>
                </a:solidFill>
              </a:rPr>
              <a:t>Vibe Coding with Positron</a:t>
            </a:r>
          </a:p>
        </p:txBody>
      </p:sp>
      <p:sp>
        <p:nvSpPr>
          <p:cNvPr id="3" name="Subtitle 2">
            <a:extLst>
              <a:ext uri="{FF2B5EF4-FFF2-40B4-BE49-F238E27FC236}">
                <a16:creationId xmlns:a16="http://schemas.microsoft.com/office/drawing/2014/main" id="{0D075082-C3D1-3B63-4049-E930EBAA8357}"/>
              </a:ext>
            </a:extLst>
          </p:cNvPr>
          <p:cNvSpPr>
            <a:spLocks noGrp="1"/>
          </p:cNvSpPr>
          <p:nvPr>
            <p:ph type="subTitle" idx="1"/>
          </p:nvPr>
        </p:nvSpPr>
        <p:spPr>
          <a:xfrm>
            <a:off x="811650" y="3812005"/>
            <a:ext cx="10536463" cy="2288544"/>
          </a:xfrm>
        </p:spPr>
        <p:txBody>
          <a:bodyPr anchor="t">
            <a:normAutofit/>
          </a:bodyPr>
          <a:lstStyle/>
          <a:p>
            <a:r>
              <a:rPr lang="en-US" dirty="0">
                <a:solidFill>
                  <a:schemeClr val="bg1"/>
                </a:solidFill>
              </a:rPr>
              <a:t>Yingying Tang</a:t>
            </a:r>
          </a:p>
          <a:p>
            <a:r>
              <a:rPr lang="en-US" dirty="0">
                <a:solidFill>
                  <a:schemeClr val="bg1"/>
                </a:solidFill>
              </a:rPr>
              <a:t>1/26/26</a:t>
            </a:r>
          </a:p>
          <a:p>
            <a:endParaRPr lang="en-US" dirty="0">
              <a:solidFill>
                <a:schemeClr val="bg1"/>
              </a:solidFill>
            </a:endParaRPr>
          </a:p>
        </p:txBody>
      </p:sp>
    </p:spTree>
    <p:extLst>
      <p:ext uri="{BB962C8B-B14F-4D97-AF65-F5344CB8AC3E}">
        <p14:creationId xmlns:p14="http://schemas.microsoft.com/office/powerpoint/2010/main" val="1999980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BCD36BD-C9CB-A3BF-6E70-D8FFC418ADC3}"/>
              </a:ext>
            </a:extLst>
          </p:cNvPr>
          <p:cNvSpPr>
            <a:spLocks noGrp="1"/>
          </p:cNvSpPr>
          <p:nvPr>
            <p:ph type="title"/>
          </p:nvPr>
        </p:nvSpPr>
        <p:spPr>
          <a:xfrm>
            <a:off x="838200" y="1195697"/>
            <a:ext cx="3200400" cy="4238118"/>
          </a:xfrm>
        </p:spPr>
        <p:txBody>
          <a:bodyPr>
            <a:normAutofit/>
          </a:bodyPr>
          <a:lstStyle/>
          <a:p>
            <a:r>
              <a:rPr lang="en-US">
                <a:solidFill>
                  <a:schemeClr val="bg1"/>
                </a:solidFill>
              </a:rPr>
              <a:t>What is vibe coding?</a:t>
            </a:r>
          </a:p>
        </p:txBody>
      </p:sp>
      <p:grpSp>
        <p:nvGrpSpPr>
          <p:cNvPr id="35"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36"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37" name="Content Placeholder 2">
            <a:extLst>
              <a:ext uri="{FF2B5EF4-FFF2-40B4-BE49-F238E27FC236}">
                <a16:creationId xmlns:a16="http://schemas.microsoft.com/office/drawing/2014/main" id="{A7D474D5-55A7-3E1F-18F3-A3967B8FDDCC}"/>
              </a:ext>
            </a:extLst>
          </p:cNvPr>
          <p:cNvGraphicFramePr>
            <a:graphicFrameLocks noGrp="1"/>
          </p:cNvGraphicFramePr>
          <p:nvPr>
            <p:ph idx="1"/>
            <p:extLst>
              <p:ext uri="{D42A27DB-BD31-4B8C-83A1-F6EECF244321}">
                <p14:modId xmlns:p14="http://schemas.microsoft.com/office/powerpoint/2010/main" val="1886549204"/>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222471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DE221-57C1-0A4D-6D83-352120B7E5B1}"/>
              </a:ext>
            </a:extLst>
          </p:cNvPr>
          <p:cNvSpPr>
            <a:spLocks noGrp="1"/>
          </p:cNvSpPr>
          <p:nvPr>
            <p:ph type="title"/>
          </p:nvPr>
        </p:nvSpPr>
        <p:spPr/>
        <p:txBody>
          <a:bodyPr/>
          <a:lstStyle/>
          <a:p>
            <a:r>
              <a:rPr lang="en-US"/>
              <a:t>Positron is not the only vibe coding tool!</a:t>
            </a:r>
            <a:endParaRPr lang="en-US" dirty="0"/>
          </a:p>
        </p:txBody>
      </p:sp>
      <p:sp>
        <p:nvSpPr>
          <p:cNvPr id="3" name="Content Placeholder 2">
            <a:extLst>
              <a:ext uri="{FF2B5EF4-FFF2-40B4-BE49-F238E27FC236}">
                <a16:creationId xmlns:a16="http://schemas.microsoft.com/office/drawing/2014/main" id="{FDBB0AC3-C2B0-221A-EE00-53C89B95EC4E}"/>
              </a:ext>
            </a:extLst>
          </p:cNvPr>
          <p:cNvSpPr>
            <a:spLocks noGrp="1"/>
          </p:cNvSpPr>
          <p:nvPr>
            <p:ph idx="1"/>
          </p:nvPr>
        </p:nvSpPr>
        <p:spPr>
          <a:xfrm>
            <a:off x="953037" y="1825625"/>
            <a:ext cx="10400763" cy="4351338"/>
          </a:xfrm>
        </p:spPr>
        <p:txBody>
          <a:bodyPr/>
          <a:lstStyle/>
          <a:p>
            <a:r>
              <a:rPr lang="en-US" dirty="0"/>
              <a:t>Cursor</a:t>
            </a:r>
          </a:p>
          <a:p>
            <a:r>
              <a:rPr lang="en-US" dirty="0"/>
              <a:t>Claude</a:t>
            </a:r>
          </a:p>
          <a:p>
            <a:r>
              <a:rPr lang="en-US" dirty="0"/>
              <a:t>Lovable</a:t>
            </a:r>
          </a:p>
          <a:p>
            <a:r>
              <a:rPr lang="en-US" dirty="0" err="1"/>
              <a:t>Replit</a:t>
            </a:r>
            <a:endParaRPr lang="en-US" dirty="0"/>
          </a:p>
          <a:p>
            <a:r>
              <a:rPr lang="en-US" dirty="0"/>
              <a:t>Bolt</a:t>
            </a:r>
          </a:p>
          <a:p>
            <a:endParaRPr lang="en-US" dirty="0"/>
          </a:p>
          <a:p>
            <a:r>
              <a:rPr lang="en-US" dirty="0"/>
              <a:t>…But Positron is the sibling of </a:t>
            </a:r>
            <a:r>
              <a:rPr lang="en-US" dirty="0" err="1"/>
              <a:t>Rstudio</a:t>
            </a:r>
            <a:endParaRPr lang="en-US" dirty="0"/>
          </a:p>
          <a:p>
            <a:r>
              <a:rPr lang="en-US" dirty="0"/>
              <a:t>…Positron supports switching between R and Python</a:t>
            </a:r>
          </a:p>
          <a:p>
            <a:endParaRPr lang="en-US" dirty="0"/>
          </a:p>
          <a:p>
            <a:endParaRPr lang="en-US" dirty="0"/>
          </a:p>
        </p:txBody>
      </p:sp>
    </p:spTree>
    <p:extLst>
      <p:ext uri="{BB962C8B-B14F-4D97-AF65-F5344CB8AC3E}">
        <p14:creationId xmlns:p14="http://schemas.microsoft.com/office/powerpoint/2010/main" val="805969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D61E3-5C5E-8CA3-543C-8FC62E269D59}"/>
              </a:ext>
            </a:extLst>
          </p:cNvPr>
          <p:cNvSpPr>
            <a:spLocks noGrp="1"/>
          </p:cNvSpPr>
          <p:nvPr>
            <p:ph type="title"/>
          </p:nvPr>
        </p:nvSpPr>
        <p:spPr/>
        <p:txBody>
          <a:bodyPr/>
          <a:lstStyle/>
          <a:p>
            <a:endParaRPr lang="en-US"/>
          </a:p>
        </p:txBody>
      </p:sp>
      <p:pic>
        <p:nvPicPr>
          <p:cNvPr id="6" name="Content Placeholder 5" descr="A screenshot of a computer&#10;&#10;AI-generated content may be incorrect.">
            <a:extLst>
              <a:ext uri="{FF2B5EF4-FFF2-40B4-BE49-F238E27FC236}">
                <a16:creationId xmlns:a16="http://schemas.microsoft.com/office/drawing/2014/main" id="{34828EE2-C513-A552-B15C-29F37C399ADD}"/>
              </a:ext>
            </a:extLst>
          </p:cNvPr>
          <p:cNvPicPr>
            <a:picLocks noGrp="1" noChangeAspect="1"/>
          </p:cNvPicPr>
          <p:nvPr>
            <p:ph idx="1"/>
          </p:nvPr>
        </p:nvPicPr>
        <p:blipFill>
          <a:blip r:embed="rId2"/>
          <a:stretch>
            <a:fillRect/>
          </a:stretch>
        </p:blipFill>
        <p:spPr>
          <a:xfrm>
            <a:off x="7804122" y="3696836"/>
            <a:ext cx="3987800" cy="3302000"/>
          </a:xfrm>
        </p:spPr>
      </p:pic>
      <p:pic>
        <p:nvPicPr>
          <p:cNvPr id="7" name="Picture 6">
            <a:extLst>
              <a:ext uri="{FF2B5EF4-FFF2-40B4-BE49-F238E27FC236}">
                <a16:creationId xmlns:a16="http://schemas.microsoft.com/office/drawing/2014/main" id="{699BADDF-62AC-1E1A-39AE-AD31222A7BA3}"/>
              </a:ext>
            </a:extLst>
          </p:cNvPr>
          <p:cNvPicPr>
            <a:picLocks noChangeAspect="1"/>
          </p:cNvPicPr>
          <p:nvPr/>
        </p:nvPicPr>
        <p:blipFill>
          <a:blip r:embed="rId3"/>
          <a:stretch>
            <a:fillRect/>
          </a:stretch>
        </p:blipFill>
        <p:spPr>
          <a:xfrm>
            <a:off x="3816322" y="3696836"/>
            <a:ext cx="3987800" cy="3302000"/>
          </a:xfrm>
          <a:prstGeom prst="rect">
            <a:avLst/>
          </a:prstGeom>
        </p:spPr>
      </p:pic>
      <p:pic>
        <p:nvPicPr>
          <p:cNvPr id="8" name="Picture 7">
            <a:extLst>
              <a:ext uri="{FF2B5EF4-FFF2-40B4-BE49-F238E27FC236}">
                <a16:creationId xmlns:a16="http://schemas.microsoft.com/office/drawing/2014/main" id="{52651D0E-ABD6-EB42-A946-BF6B382FA7D2}"/>
              </a:ext>
            </a:extLst>
          </p:cNvPr>
          <p:cNvPicPr>
            <a:picLocks noChangeAspect="1"/>
          </p:cNvPicPr>
          <p:nvPr/>
        </p:nvPicPr>
        <p:blipFill>
          <a:blip r:embed="rId4"/>
          <a:stretch>
            <a:fillRect/>
          </a:stretch>
        </p:blipFill>
        <p:spPr>
          <a:xfrm>
            <a:off x="-223073" y="178649"/>
            <a:ext cx="6319073" cy="3657148"/>
          </a:xfrm>
          <a:prstGeom prst="rect">
            <a:avLst/>
          </a:prstGeom>
        </p:spPr>
      </p:pic>
    </p:spTree>
    <p:extLst>
      <p:ext uri="{BB962C8B-B14F-4D97-AF65-F5344CB8AC3E}">
        <p14:creationId xmlns:p14="http://schemas.microsoft.com/office/powerpoint/2010/main" val="1703877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FD54E-5DC0-0A5C-3493-35EE6CC90D85}"/>
              </a:ext>
            </a:extLst>
          </p:cNvPr>
          <p:cNvSpPr>
            <a:spLocks noGrp="1"/>
          </p:cNvSpPr>
          <p:nvPr>
            <p:ph type="title"/>
          </p:nvPr>
        </p:nvSpPr>
        <p:spPr/>
        <p:txBody>
          <a:bodyPr/>
          <a:lstStyle/>
          <a:p>
            <a:r>
              <a:rPr lang="en-US" dirty="0"/>
              <a:t>General setup</a:t>
            </a:r>
          </a:p>
        </p:txBody>
      </p:sp>
      <p:sp>
        <p:nvSpPr>
          <p:cNvPr id="3" name="Content Placeholder 2">
            <a:extLst>
              <a:ext uri="{FF2B5EF4-FFF2-40B4-BE49-F238E27FC236}">
                <a16:creationId xmlns:a16="http://schemas.microsoft.com/office/drawing/2014/main" id="{164CD8D6-E5A5-5DF0-A092-C41F921CEAD5}"/>
              </a:ext>
            </a:extLst>
          </p:cNvPr>
          <p:cNvSpPr>
            <a:spLocks noGrp="1"/>
          </p:cNvSpPr>
          <p:nvPr>
            <p:ph idx="1"/>
          </p:nvPr>
        </p:nvSpPr>
        <p:spPr/>
        <p:txBody>
          <a:bodyPr/>
          <a:lstStyle/>
          <a:p>
            <a:r>
              <a:rPr lang="en-US" dirty="0"/>
              <a:t>Layout introduction</a:t>
            </a:r>
          </a:p>
          <a:p>
            <a:r>
              <a:rPr lang="en-US" dirty="0"/>
              <a:t>How to make sure R is loaded: 1+1</a:t>
            </a:r>
          </a:p>
          <a:p>
            <a:r>
              <a:rPr lang="en-US" dirty="0"/>
              <a:t>Login to chat box</a:t>
            </a:r>
          </a:p>
          <a:p>
            <a:r>
              <a:rPr lang="en-US" dirty="0"/>
              <a:t>New file</a:t>
            </a:r>
            <a:r>
              <a:rPr lang="zh-CN" altLang="en-US" dirty="0"/>
              <a:t> </a:t>
            </a:r>
            <a:r>
              <a:rPr lang="en-US" altLang="zh-CN" dirty="0"/>
              <a:t>-&gt; R/python</a:t>
            </a:r>
          </a:p>
          <a:p>
            <a:endParaRPr lang="en-US" dirty="0"/>
          </a:p>
        </p:txBody>
      </p:sp>
    </p:spTree>
    <p:extLst>
      <p:ext uri="{BB962C8B-B14F-4D97-AF65-F5344CB8AC3E}">
        <p14:creationId xmlns:p14="http://schemas.microsoft.com/office/powerpoint/2010/main" val="39786308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AC1DB-08AF-C37E-BE0A-CE5D08B3B8B2}"/>
              </a:ext>
            </a:extLst>
          </p:cNvPr>
          <p:cNvSpPr>
            <a:spLocks noGrp="1"/>
          </p:cNvSpPr>
          <p:nvPr>
            <p:ph type="title"/>
          </p:nvPr>
        </p:nvSpPr>
        <p:spPr/>
        <p:txBody>
          <a:bodyPr/>
          <a:lstStyle/>
          <a:p>
            <a:r>
              <a:rPr lang="en-US" dirty="0"/>
              <a:t>Dataset is the same as last year (and the year before last year…)</a:t>
            </a:r>
          </a:p>
        </p:txBody>
      </p:sp>
      <p:sp>
        <p:nvSpPr>
          <p:cNvPr id="3" name="Content Placeholder 2">
            <a:extLst>
              <a:ext uri="{FF2B5EF4-FFF2-40B4-BE49-F238E27FC236}">
                <a16:creationId xmlns:a16="http://schemas.microsoft.com/office/drawing/2014/main" id="{8C29A67A-B81E-6063-7A99-518E3E38707D}"/>
              </a:ext>
            </a:extLst>
          </p:cNvPr>
          <p:cNvSpPr>
            <a:spLocks noGrp="1"/>
          </p:cNvSpPr>
          <p:nvPr>
            <p:ph idx="1"/>
          </p:nvPr>
        </p:nvSpPr>
        <p:spPr/>
        <p:txBody>
          <a:bodyPr/>
          <a:lstStyle/>
          <a:p>
            <a:pPr marL="514350" indent="-514350">
              <a:buAutoNum type="arabicPeriod"/>
            </a:pPr>
            <a:r>
              <a:rPr lang="en-US" dirty="0"/>
              <a:t>Read data</a:t>
            </a:r>
          </a:p>
          <a:p>
            <a:pPr marL="0" indent="0">
              <a:buNone/>
            </a:pPr>
            <a:endParaRPr lang="en-US" dirty="0"/>
          </a:p>
          <a:p>
            <a:pPr marL="514350" indent="-514350">
              <a:buAutoNum type="arabicPeriod"/>
            </a:pPr>
            <a:endParaRPr lang="en-US" dirty="0"/>
          </a:p>
        </p:txBody>
      </p:sp>
    </p:spTree>
    <p:extLst>
      <p:ext uri="{BB962C8B-B14F-4D97-AF65-F5344CB8AC3E}">
        <p14:creationId xmlns:p14="http://schemas.microsoft.com/office/powerpoint/2010/main" val="934146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33B35-1315-0FE7-4941-20371681CC00}"/>
              </a:ext>
            </a:extLst>
          </p:cNvPr>
          <p:cNvSpPr>
            <a:spLocks noGrp="1"/>
          </p:cNvSpPr>
          <p:nvPr>
            <p:ph type="title"/>
          </p:nvPr>
        </p:nvSpPr>
        <p:spPr/>
        <p:txBody>
          <a:bodyPr/>
          <a:lstStyle/>
          <a:p>
            <a:r>
              <a:rPr lang="en-US" dirty="0"/>
              <a:t>Read data</a:t>
            </a:r>
          </a:p>
        </p:txBody>
      </p:sp>
      <p:sp>
        <p:nvSpPr>
          <p:cNvPr id="3" name="Content Placeholder 2">
            <a:extLst>
              <a:ext uri="{FF2B5EF4-FFF2-40B4-BE49-F238E27FC236}">
                <a16:creationId xmlns:a16="http://schemas.microsoft.com/office/drawing/2014/main" id="{9EFD5357-FAD2-D9B6-041E-1C123E70C89D}"/>
              </a:ext>
            </a:extLst>
          </p:cNvPr>
          <p:cNvSpPr>
            <a:spLocks noGrp="1"/>
          </p:cNvSpPr>
          <p:nvPr>
            <p:ph idx="1"/>
          </p:nvPr>
        </p:nvSpPr>
        <p:spPr/>
        <p:txBody>
          <a:bodyPr/>
          <a:lstStyle/>
          <a:p>
            <a:r>
              <a:rPr lang="en-US" dirty="0"/>
              <a:t>set working directory to the folder with data</a:t>
            </a:r>
          </a:p>
          <a:p>
            <a:r>
              <a:rPr lang="en-US" dirty="0"/>
              <a:t>read the only sav file in this path </a:t>
            </a:r>
          </a:p>
          <a:p>
            <a:endParaRPr lang="en-US" dirty="0"/>
          </a:p>
          <a:p>
            <a:r>
              <a:rPr lang="en-US" dirty="0"/>
              <a:t>Navigate </a:t>
            </a:r>
            <a:r>
              <a:rPr lang="en-US"/>
              <a:t>to variables part</a:t>
            </a:r>
            <a:endParaRPr lang="en-US" dirty="0"/>
          </a:p>
          <a:p>
            <a:endParaRPr lang="en-US" dirty="0"/>
          </a:p>
        </p:txBody>
      </p:sp>
    </p:spTree>
    <p:extLst>
      <p:ext uri="{BB962C8B-B14F-4D97-AF65-F5344CB8AC3E}">
        <p14:creationId xmlns:p14="http://schemas.microsoft.com/office/powerpoint/2010/main" val="30150711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7127F-3E91-A17E-E556-C16DAEE8E8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F1FE5B-C344-4962-4070-FF3F34834215}"/>
              </a:ext>
            </a:extLst>
          </p:cNvPr>
          <p:cNvSpPr>
            <a:spLocks noGrp="1"/>
          </p:cNvSpPr>
          <p:nvPr>
            <p:ph type="title"/>
          </p:nvPr>
        </p:nvSpPr>
        <p:spPr/>
        <p:txBody>
          <a:bodyPr/>
          <a:lstStyle/>
          <a:p>
            <a:r>
              <a:rPr lang="en-US" dirty="0"/>
              <a:t>Dataset is the same as last year (and the year before last year…)</a:t>
            </a:r>
          </a:p>
        </p:txBody>
      </p:sp>
      <p:sp>
        <p:nvSpPr>
          <p:cNvPr id="3" name="Content Placeholder 2">
            <a:extLst>
              <a:ext uri="{FF2B5EF4-FFF2-40B4-BE49-F238E27FC236}">
                <a16:creationId xmlns:a16="http://schemas.microsoft.com/office/drawing/2014/main" id="{E5D04E4F-4F79-34D9-DA51-EF6371585619}"/>
              </a:ext>
            </a:extLst>
          </p:cNvPr>
          <p:cNvSpPr>
            <a:spLocks noGrp="1"/>
          </p:cNvSpPr>
          <p:nvPr>
            <p:ph idx="1"/>
          </p:nvPr>
        </p:nvSpPr>
        <p:spPr/>
        <p:txBody>
          <a:bodyPr/>
          <a:lstStyle/>
          <a:p>
            <a:pPr marL="514350" indent="-514350">
              <a:buAutoNum type="arabicPeriod"/>
            </a:pPr>
            <a:r>
              <a:rPr lang="en-US" dirty="0"/>
              <a:t>Read data</a:t>
            </a:r>
          </a:p>
          <a:p>
            <a:pPr marL="514350" indent="-514350">
              <a:buAutoNum type="arabicPeriod"/>
            </a:pPr>
            <a:r>
              <a:rPr lang="en-US" dirty="0"/>
              <a:t>Data wrangling</a:t>
            </a:r>
          </a:p>
          <a:p>
            <a:pPr marL="514350" indent="-514350">
              <a:buAutoNum type="arabicPeriod"/>
            </a:pPr>
            <a:endParaRPr lang="en-US" dirty="0"/>
          </a:p>
          <a:p>
            <a:pPr marL="514350" indent="-514350">
              <a:buAutoNum type="arabicPeriod"/>
            </a:pPr>
            <a:endParaRPr lang="en-US" dirty="0"/>
          </a:p>
        </p:txBody>
      </p:sp>
    </p:spTree>
    <p:extLst>
      <p:ext uri="{BB962C8B-B14F-4D97-AF65-F5344CB8AC3E}">
        <p14:creationId xmlns:p14="http://schemas.microsoft.com/office/powerpoint/2010/main" val="3306319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EC005-24A8-952B-2FAC-E0C44EAD8147}"/>
              </a:ext>
            </a:extLst>
          </p:cNvPr>
          <p:cNvSpPr>
            <a:spLocks noGrp="1"/>
          </p:cNvSpPr>
          <p:nvPr>
            <p:ph type="title"/>
          </p:nvPr>
        </p:nvSpPr>
        <p:spPr/>
        <p:txBody>
          <a:bodyPr/>
          <a:lstStyle/>
          <a:p>
            <a:r>
              <a:rPr lang="en-US" dirty="0"/>
              <a:t>Data wrangling</a:t>
            </a:r>
          </a:p>
        </p:txBody>
      </p:sp>
      <p:sp>
        <p:nvSpPr>
          <p:cNvPr id="3" name="Content Placeholder 2">
            <a:extLst>
              <a:ext uri="{FF2B5EF4-FFF2-40B4-BE49-F238E27FC236}">
                <a16:creationId xmlns:a16="http://schemas.microsoft.com/office/drawing/2014/main" id="{437FB826-A9EF-2473-D852-0D7B1ADF1CFB}"/>
              </a:ext>
            </a:extLst>
          </p:cNvPr>
          <p:cNvSpPr>
            <a:spLocks noGrp="1"/>
          </p:cNvSpPr>
          <p:nvPr>
            <p:ph idx="1"/>
          </p:nvPr>
        </p:nvSpPr>
        <p:spPr/>
        <p:txBody>
          <a:bodyPr>
            <a:normAutofit fontScale="92500" lnSpcReduction="10000"/>
          </a:bodyPr>
          <a:lstStyle/>
          <a:p>
            <a:r>
              <a:rPr lang="en-US" dirty="0"/>
              <a:t>Rename: </a:t>
            </a:r>
          </a:p>
          <a:p>
            <a:r>
              <a:rPr lang="en-US" dirty="0"/>
              <a:t>B1PRSEX → Sex, B4QCESD → </a:t>
            </a:r>
            <a:r>
              <a:rPr lang="en-US" dirty="0" err="1"/>
              <a:t>Depressive_Symptoms</a:t>
            </a:r>
            <a:r>
              <a:rPr lang="en-US" dirty="0"/>
              <a:t>, B4QSA_SA → </a:t>
            </a:r>
            <a:r>
              <a:rPr lang="en-US" dirty="0" err="1"/>
              <a:t>Social_Anxiety</a:t>
            </a:r>
            <a:r>
              <a:rPr lang="en-US" dirty="0"/>
              <a:t>, B4QSC_SC → </a:t>
            </a:r>
            <a:r>
              <a:rPr lang="en-US" dirty="0" err="1"/>
              <a:t>Self_Control</a:t>
            </a:r>
            <a:r>
              <a:rPr lang="en-US" dirty="0"/>
              <a:t>, B4QPS_PS → </a:t>
            </a:r>
            <a:r>
              <a:rPr lang="en-US" dirty="0" err="1"/>
              <a:t>Perceived_Stress</a:t>
            </a:r>
            <a:r>
              <a:rPr lang="en-US" dirty="0"/>
              <a:t>, B1PA58 → </a:t>
            </a:r>
            <a:r>
              <a:rPr lang="en-US" dirty="0" err="1"/>
              <a:t>Lived_with_Alcoholic</a:t>
            </a:r>
            <a:r>
              <a:rPr lang="en-US" dirty="0"/>
              <a:t>, B1SE11L → </a:t>
            </a:r>
            <a:r>
              <a:rPr lang="en-US" dirty="0" err="1"/>
              <a:t>Parental_Divorce</a:t>
            </a:r>
            <a:r>
              <a:rPr lang="en-US" dirty="0"/>
              <a:t>, B1PBWORK → </a:t>
            </a:r>
            <a:r>
              <a:rPr lang="en-US" dirty="0" err="1"/>
              <a:t>Occupational_Status</a:t>
            </a:r>
            <a:r>
              <a:rPr lang="en-US" dirty="0"/>
              <a:t>, B1PRAGE_2019 → Age, B1PB1 → Education</a:t>
            </a:r>
          </a:p>
          <a:p>
            <a:endParaRPr lang="en-US" dirty="0"/>
          </a:p>
          <a:p>
            <a:r>
              <a:rPr lang="en-US" dirty="0"/>
              <a:t>calculate a variable called </a:t>
            </a:r>
            <a:r>
              <a:rPr lang="en-US" dirty="0" err="1"/>
              <a:t>Emotional_Support_Spouse</a:t>
            </a:r>
            <a:r>
              <a:rPr lang="en-US" dirty="0"/>
              <a:t> using the the average score of B4QSUGS, B4QSTGS (need to be reverse coded)</a:t>
            </a:r>
          </a:p>
          <a:p>
            <a:r>
              <a:rPr lang="en-US" dirty="0"/>
              <a:t>Calculate a variable called </a:t>
            </a:r>
            <a:r>
              <a:rPr lang="en-US" dirty="0" err="1"/>
              <a:t>Childhood_Maltreatment</a:t>
            </a:r>
            <a:r>
              <a:rPr lang="en-US" dirty="0"/>
              <a:t> with all </a:t>
            </a:r>
            <a:r>
              <a:rPr lang="en-US" dirty="0" err="1"/>
              <a:t>variabels</a:t>
            </a:r>
            <a:r>
              <a:rPr lang="en-US" dirty="0"/>
              <a:t> start with B4QCT</a:t>
            </a:r>
          </a:p>
        </p:txBody>
      </p:sp>
    </p:spTree>
    <p:extLst>
      <p:ext uri="{BB962C8B-B14F-4D97-AF65-F5344CB8AC3E}">
        <p14:creationId xmlns:p14="http://schemas.microsoft.com/office/powerpoint/2010/main" val="4123989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17A27-7F65-968F-AD65-FE6562D09D06}"/>
              </a:ext>
            </a:extLst>
          </p:cNvPr>
          <p:cNvSpPr>
            <a:spLocks noGrp="1"/>
          </p:cNvSpPr>
          <p:nvPr>
            <p:ph type="title"/>
          </p:nvPr>
        </p:nvSpPr>
        <p:spPr/>
        <p:txBody>
          <a:bodyPr/>
          <a:lstStyle/>
          <a:p>
            <a:r>
              <a:rPr lang="en-US" dirty="0"/>
              <a:t>Data wrangling</a:t>
            </a:r>
          </a:p>
        </p:txBody>
      </p:sp>
      <p:sp>
        <p:nvSpPr>
          <p:cNvPr id="3" name="Content Placeholder 2">
            <a:extLst>
              <a:ext uri="{FF2B5EF4-FFF2-40B4-BE49-F238E27FC236}">
                <a16:creationId xmlns:a16="http://schemas.microsoft.com/office/drawing/2014/main" id="{790EB975-4B4D-FAC1-820D-320EAD47F3C4}"/>
              </a:ext>
            </a:extLst>
          </p:cNvPr>
          <p:cNvSpPr>
            <a:spLocks noGrp="1"/>
          </p:cNvSpPr>
          <p:nvPr>
            <p:ph idx="1"/>
          </p:nvPr>
        </p:nvSpPr>
        <p:spPr/>
        <p:txBody>
          <a:bodyPr>
            <a:normAutofit/>
          </a:bodyPr>
          <a:lstStyle/>
          <a:p>
            <a:r>
              <a:rPr lang="en-US" dirty="0"/>
              <a:t>recode sex into 1 -&gt; male, 2 -&gt; female, recode parental divorce 1-&gt; yes, 2 -&gt; no, lived with alcoholic, 1-&gt;yes, 2-&gt; no</a:t>
            </a:r>
          </a:p>
          <a:p>
            <a:r>
              <a:rPr lang="en-US" dirty="0"/>
              <a:t>and pull all renamed items in a new dataset (named m2df_items) together with MIDUSID </a:t>
            </a:r>
          </a:p>
          <a:p>
            <a:r>
              <a:rPr lang="en-US" dirty="0"/>
              <a:t>create a subset containing people with High School or lower</a:t>
            </a:r>
          </a:p>
          <a:p>
            <a:r>
              <a:rPr lang="en-US" dirty="0"/>
              <a:t>in m2df_items, describe the frequency of education, with labels</a:t>
            </a:r>
          </a:p>
          <a:p>
            <a:endParaRPr lang="en-US" dirty="0"/>
          </a:p>
          <a:p>
            <a:endParaRPr lang="en-US" dirty="0"/>
          </a:p>
        </p:txBody>
      </p:sp>
    </p:spTree>
    <p:extLst>
      <p:ext uri="{BB962C8B-B14F-4D97-AF65-F5344CB8AC3E}">
        <p14:creationId xmlns:p14="http://schemas.microsoft.com/office/powerpoint/2010/main" val="4450355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B60D0-EC08-4BED-2D02-09EA3F1C07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1CD688-BA9A-54CF-3DD7-A07C524F6CB7}"/>
              </a:ext>
            </a:extLst>
          </p:cNvPr>
          <p:cNvSpPr>
            <a:spLocks noGrp="1"/>
          </p:cNvSpPr>
          <p:nvPr>
            <p:ph type="title"/>
          </p:nvPr>
        </p:nvSpPr>
        <p:spPr/>
        <p:txBody>
          <a:bodyPr/>
          <a:lstStyle/>
          <a:p>
            <a:r>
              <a:rPr lang="en-US" dirty="0"/>
              <a:t>Dataset is the same as last year (and the year before last year…)</a:t>
            </a:r>
          </a:p>
        </p:txBody>
      </p:sp>
      <p:sp>
        <p:nvSpPr>
          <p:cNvPr id="3" name="Content Placeholder 2">
            <a:extLst>
              <a:ext uri="{FF2B5EF4-FFF2-40B4-BE49-F238E27FC236}">
                <a16:creationId xmlns:a16="http://schemas.microsoft.com/office/drawing/2014/main" id="{EF14008D-26F2-67EA-CD17-54002133841F}"/>
              </a:ext>
            </a:extLst>
          </p:cNvPr>
          <p:cNvSpPr>
            <a:spLocks noGrp="1"/>
          </p:cNvSpPr>
          <p:nvPr>
            <p:ph idx="1"/>
          </p:nvPr>
        </p:nvSpPr>
        <p:spPr/>
        <p:txBody>
          <a:bodyPr/>
          <a:lstStyle/>
          <a:p>
            <a:pPr marL="514350" indent="-514350">
              <a:buAutoNum type="arabicPeriod"/>
            </a:pPr>
            <a:r>
              <a:rPr lang="en-US" dirty="0"/>
              <a:t>Read data</a:t>
            </a:r>
          </a:p>
          <a:p>
            <a:pPr marL="514350" indent="-514350">
              <a:buAutoNum type="arabicPeriod"/>
            </a:pPr>
            <a:r>
              <a:rPr lang="en-US" dirty="0"/>
              <a:t>Data wrangling</a:t>
            </a:r>
          </a:p>
          <a:p>
            <a:pPr marL="514350" indent="-514350">
              <a:buAutoNum type="arabicPeriod"/>
            </a:pPr>
            <a:r>
              <a:rPr lang="en-US" dirty="0"/>
              <a:t>Some analyses</a:t>
            </a:r>
          </a:p>
          <a:p>
            <a:pPr marL="514350" indent="-514350">
              <a:buAutoNum type="arabicPeriod"/>
            </a:pPr>
            <a:endParaRPr lang="en-US" dirty="0"/>
          </a:p>
          <a:p>
            <a:pPr marL="514350" indent="-514350">
              <a:buAutoNum type="arabicPeriod"/>
            </a:pPr>
            <a:endParaRPr lang="en-US" dirty="0"/>
          </a:p>
        </p:txBody>
      </p:sp>
    </p:spTree>
    <p:extLst>
      <p:ext uri="{BB962C8B-B14F-4D97-AF65-F5344CB8AC3E}">
        <p14:creationId xmlns:p14="http://schemas.microsoft.com/office/powerpoint/2010/main" val="440456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1B8ED-1E84-E444-38BB-C109895B2319}"/>
              </a:ext>
            </a:extLst>
          </p:cNvPr>
          <p:cNvSpPr>
            <a:spLocks noGrp="1"/>
          </p:cNvSpPr>
          <p:nvPr>
            <p:ph type="title"/>
          </p:nvPr>
        </p:nvSpPr>
        <p:spPr/>
        <p:txBody>
          <a:bodyPr/>
          <a:lstStyle/>
          <a:p>
            <a:r>
              <a:rPr lang="en-US" dirty="0"/>
              <a:t>Correlation</a:t>
            </a:r>
          </a:p>
        </p:txBody>
      </p:sp>
      <p:sp>
        <p:nvSpPr>
          <p:cNvPr id="3" name="Content Placeholder 2">
            <a:extLst>
              <a:ext uri="{FF2B5EF4-FFF2-40B4-BE49-F238E27FC236}">
                <a16:creationId xmlns:a16="http://schemas.microsoft.com/office/drawing/2014/main" id="{AAB49715-FDD3-FBA6-5365-671E48F4CACC}"/>
              </a:ext>
            </a:extLst>
          </p:cNvPr>
          <p:cNvSpPr>
            <a:spLocks noGrp="1"/>
          </p:cNvSpPr>
          <p:nvPr>
            <p:ph idx="1"/>
          </p:nvPr>
        </p:nvSpPr>
        <p:spPr/>
        <p:txBody>
          <a:bodyPr/>
          <a:lstStyle/>
          <a:p>
            <a:r>
              <a:rPr lang="en-US" dirty="0"/>
              <a:t>save a word document with APA formatted table, the table need to contain correlation between all variables except id, with stars indicating significance level, put demographic variables last, in the bottom provide N, mean, </a:t>
            </a:r>
            <a:r>
              <a:rPr lang="en-US" dirty="0" err="1"/>
              <a:t>sd</a:t>
            </a:r>
            <a:r>
              <a:rPr lang="en-US" dirty="0"/>
              <a:t> for each variable</a:t>
            </a:r>
          </a:p>
          <a:p>
            <a:endParaRPr lang="en-US" dirty="0"/>
          </a:p>
        </p:txBody>
      </p:sp>
    </p:spTree>
    <p:extLst>
      <p:ext uri="{BB962C8B-B14F-4D97-AF65-F5344CB8AC3E}">
        <p14:creationId xmlns:p14="http://schemas.microsoft.com/office/powerpoint/2010/main" val="24500430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3D7C8-5A0B-4C15-8B84-2F19680A9160}"/>
              </a:ext>
            </a:extLst>
          </p:cNvPr>
          <p:cNvSpPr>
            <a:spLocks noGrp="1"/>
          </p:cNvSpPr>
          <p:nvPr>
            <p:ph type="title"/>
          </p:nvPr>
        </p:nvSpPr>
        <p:spPr/>
        <p:txBody>
          <a:bodyPr/>
          <a:lstStyle/>
          <a:p>
            <a:r>
              <a:rPr lang="en-US" dirty="0"/>
              <a:t>Moderation</a:t>
            </a:r>
          </a:p>
        </p:txBody>
      </p:sp>
      <p:sp>
        <p:nvSpPr>
          <p:cNvPr id="3" name="Content Placeholder 2">
            <a:extLst>
              <a:ext uri="{FF2B5EF4-FFF2-40B4-BE49-F238E27FC236}">
                <a16:creationId xmlns:a16="http://schemas.microsoft.com/office/drawing/2014/main" id="{1D9E8312-62D1-D6C8-66D0-4B5AD87141FD}"/>
              </a:ext>
            </a:extLst>
          </p:cNvPr>
          <p:cNvSpPr>
            <a:spLocks noGrp="1"/>
          </p:cNvSpPr>
          <p:nvPr>
            <p:ph idx="1"/>
          </p:nvPr>
        </p:nvSpPr>
        <p:spPr/>
        <p:txBody>
          <a:bodyPr/>
          <a:lstStyle/>
          <a:p>
            <a:r>
              <a:rPr lang="en-US" dirty="0"/>
              <a:t>do a moderation analysis with the effect of childhood maltreatment on emotional support by spouse vary by sex (use interaction term), control for self control, lived with alcoholic, age and occupational status,  center variables if necessary</a:t>
            </a:r>
          </a:p>
          <a:p>
            <a:r>
              <a:rPr lang="en-US" dirty="0"/>
              <a:t>plot simple slope plots for the interaction, use </a:t>
            </a:r>
            <a:r>
              <a:rPr lang="en-US" dirty="0" err="1"/>
              <a:t>sim_slope</a:t>
            </a:r>
            <a:endParaRPr lang="en-US" dirty="0"/>
          </a:p>
          <a:p>
            <a:endParaRPr lang="en-US" dirty="0"/>
          </a:p>
        </p:txBody>
      </p:sp>
    </p:spTree>
    <p:extLst>
      <p:ext uri="{BB962C8B-B14F-4D97-AF65-F5344CB8AC3E}">
        <p14:creationId xmlns:p14="http://schemas.microsoft.com/office/powerpoint/2010/main" val="877791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7C0C2-5A47-553F-BCE7-7D0E71FBD7B2}"/>
              </a:ext>
            </a:extLst>
          </p:cNvPr>
          <p:cNvSpPr>
            <a:spLocks noGrp="1"/>
          </p:cNvSpPr>
          <p:nvPr>
            <p:ph type="title"/>
          </p:nvPr>
        </p:nvSpPr>
        <p:spPr/>
        <p:txBody>
          <a:bodyPr/>
          <a:lstStyle/>
          <a:p>
            <a:r>
              <a:rPr lang="en-US" dirty="0"/>
              <a:t>Some advanced analyses before we learn it…</a:t>
            </a:r>
          </a:p>
        </p:txBody>
      </p:sp>
      <p:sp>
        <p:nvSpPr>
          <p:cNvPr id="3" name="Content Placeholder 2">
            <a:extLst>
              <a:ext uri="{FF2B5EF4-FFF2-40B4-BE49-F238E27FC236}">
                <a16:creationId xmlns:a16="http://schemas.microsoft.com/office/drawing/2014/main" id="{4A9445F8-0945-286C-682F-DC6FFAD77C1B}"/>
              </a:ext>
            </a:extLst>
          </p:cNvPr>
          <p:cNvSpPr>
            <a:spLocks noGrp="1"/>
          </p:cNvSpPr>
          <p:nvPr>
            <p:ph idx="1"/>
          </p:nvPr>
        </p:nvSpPr>
        <p:spPr/>
        <p:txBody>
          <a:bodyPr>
            <a:normAutofit/>
          </a:bodyPr>
          <a:lstStyle/>
          <a:p>
            <a:r>
              <a:rPr lang="en-US" dirty="0"/>
              <a:t>do latent profile analysis with depressive symptoms, social anxiety and self control</a:t>
            </a:r>
          </a:p>
          <a:p>
            <a:r>
              <a:rPr lang="en-US" dirty="0"/>
              <a:t>Introducing fix: constrain the variance and covariance of each profile to be the same </a:t>
            </a:r>
          </a:p>
          <a:p>
            <a:r>
              <a:rPr lang="en-US" dirty="0"/>
              <a:t>are those classes differ in demographics? </a:t>
            </a:r>
          </a:p>
          <a:p>
            <a:endParaRPr lang="en-US" dirty="0"/>
          </a:p>
          <a:p>
            <a:r>
              <a:rPr lang="en-US" dirty="0"/>
              <a:t>use random forest algorithm and use all other features to predict depression</a:t>
            </a:r>
          </a:p>
          <a:p>
            <a:r>
              <a:rPr lang="en-US" dirty="0"/>
              <a:t>do classification version</a:t>
            </a:r>
          </a:p>
        </p:txBody>
      </p:sp>
    </p:spTree>
    <p:extLst>
      <p:ext uri="{BB962C8B-B14F-4D97-AF65-F5344CB8AC3E}">
        <p14:creationId xmlns:p14="http://schemas.microsoft.com/office/powerpoint/2010/main" val="39715391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Wood Type</Template>
  <TotalTime>169</TotalTime>
  <Words>539</Words>
  <Application>Microsoft Macintosh PowerPoint</Application>
  <PresentationFormat>Widescreen</PresentationFormat>
  <Paragraphs>61</Paragraphs>
  <Slides>14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Vibe Coding with Positron</vt:lpstr>
      <vt:lpstr>What is vibe coding?</vt:lpstr>
      <vt:lpstr>Positron is not the only vibe coding tool!</vt:lpstr>
      <vt:lpstr>PowerPoint Presentation</vt:lpstr>
      <vt:lpstr>General setup</vt:lpstr>
      <vt:lpstr>Dataset is the same as last year (and the year before last year…)</vt:lpstr>
      <vt:lpstr>Read data</vt:lpstr>
      <vt:lpstr>Dataset is the same as last year (and the year before last year…)</vt:lpstr>
      <vt:lpstr>Data wrangling</vt:lpstr>
      <vt:lpstr>Data wrangling</vt:lpstr>
      <vt:lpstr>Dataset is the same as last year (and the year before last year…)</vt:lpstr>
      <vt:lpstr>Correlation</vt:lpstr>
      <vt:lpstr>Moderation</vt:lpstr>
      <vt:lpstr>Some advanced analyses before we learn 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Tang, Yingying</dc:creator>
  <cp:lastModifiedBy>Tang, Yingying</cp:lastModifiedBy>
  <cp:revision>1</cp:revision>
  <dcterms:created xsi:type="dcterms:W3CDTF">2026-01-26T16:29:17Z</dcterms:created>
  <dcterms:modified xsi:type="dcterms:W3CDTF">2026-01-26T19:19:15Z</dcterms:modified>
</cp:coreProperties>
</file>